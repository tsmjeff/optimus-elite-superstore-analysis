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0" d="100"/>
          <a:sy n="70" d="100"/>
        </p:scale>
        <p:origin x="26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Revenue (₦M)</c:v>
                </c:pt>
              </c:strCache>
            </c:strRef>
          </c:tx>
          <c:spPr>
            <a:solidFill>
              <a:srgbClr val="FF6B35"/>
            </a:solidFill>
            <a:effectLst/>
          </c:spPr>
          <c:invertIfNegative val="0"/>
          <c:dLbls>
            <c:numFmt formatCode="#,##0" sourceLinked="0"/>
            <c:spPr>
              <a:noFill/>
              <a:ln>
                <a:noFill/>
              </a:ln>
              <a:effectLst/>
            </c:spPr>
            <c:txPr>
              <a:bodyPr/>
              <a:lstStyle/>
              <a:p>
                <a:pPr>
                  <a:defRPr sz="1000" b="0" i="0" u="none" strike="noStrike">
                    <a:solidFill>
                      <a:srgbClr val="1621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2011</c:v>
                </c:pt>
                <c:pt idx="1">
                  <c:v>2012</c:v>
                </c:pt>
                <c:pt idx="2">
                  <c:v>2013</c:v>
                </c:pt>
                <c:pt idx="3">
                  <c:v>2014</c:v>
                </c:pt>
              </c:strCache>
            </c:strRef>
          </c:cat>
          <c:val>
            <c:numRef>
              <c:f>Sheet1!$B$2:$B$5</c:f>
              <c:numCache>
                <c:formatCode>General</c:formatCode>
                <c:ptCount val="4"/>
                <c:pt idx="0">
                  <c:v>2.48</c:v>
                </c:pt>
                <c:pt idx="1">
                  <c:v>2.78</c:v>
                </c:pt>
                <c:pt idx="2">
                  <c:v>3.91</c:v>
                </c:pt>
                <c:pt idx="3">
                  <c:v>5.04</c:v>
                </c:pt>
              </c:numCache>
            </c:numRef>
          </c:val>
          <c:extLst>
            <c:ext xmlns:c16="http://schemas.microsoft.com/office/drawing/2014/chart" uri="{C3380CC4-5D6E-409C-BE32-E72D297353CC}">
              <c16:uniqueId val="{00000000-0EFF-41D2-B821-8EB31FC1EF5E}"/>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6B728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pieChart>
        <c:varyColors val="1"/>
        <c:ser>
          <c:idx val="0"/>
          <c:order val="0"/>
          <c:tx>
            <c:strRef>
              <c:f>Sheet1!$B$1</c:f>
              <c:strCache>
                <c:ptCount val="1"/>
                <c:pt idx="0">
                  <c:v>Profit</c:v>
                </c:pt>
              </c:strCache>
            </c:strRef>
          </c:tx>
          <c:spPr>
            <a:solidFill>
              <a:schemeClr val="accent1"/>
            </a:solidFill>
            <a:ln w="9525" cap="flat">
              <a:solidFill>
                <a:srgbClr val="F9F9F9"/>
              </a:solidFill>
              <a:prstDash val="solid"/>
              <a:round/>
            </a:ln>
            <a:effectLst/>
          </c:spPr>
          <c:dPt>
            <c:idx val="0"/>
            <c:bubble3D val="0"/>
            <c:spPr>
              <a:solidFill>
                <a:srgbClr val="2EC4B6"/>
              </a:solidFill>
              <a:effectLst/>
            </c:spPr>
            <c:extLst>
              <c:ext xmlns:c16="http://schemas.microsoft.com/office/drawing/2014/chart" uri="{C3380CC4-5D6E-409C-BE32-E72D297353CC}">
                <c16:uniqueId val="{00000001-2392-48DF-B6D6-FCCE716985F0}"/>
              </c:ext>
            </c:extLst>
          </c:dPt>
          <c:dPt>
            <c:idx val="1"/>
            <c:bubble3D val="0"/>
            <c:spPr>
              <a:solidFill>
                <a:srgbClr val="FFB627"/>
              </a:solidFill>
              <a:effectLst/>
            </c:spPr>
            <c:extLst>
              <c:ext xmlns:c16="http://schemas.microsoft.com/office/drawing/2014/chart" uri="{C3380CC4-5D6E-409C-BE32-E72D297353CC}">
                <c16:uniqueId val="{00000003-2392-48DF-B6D6-FCCE716985F0}"/>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2392-48DF-B6D6-FCCE716985F0}"/>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1"/>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2392-48DF-B6D6-FCCE716985F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Technology</c:v>
                </c:pt>
                <c:pt idx="1">
                  <c:v>Furniture</c:v>
                </c:pt>
              </c:strCache>
            </c:strRef>
          </c:cat>
          <c:val>
            <c:numRef>
              <c:f>Sheet1!$B$2:$B$3</c:f>
              <c:numCache>
                <c:formatCode>General</c:formatCode>
                <c:ptCount val="2"/>
                <c:pt idx="0">
                  <c:v>8.76</c:v>
                </c:pt>
                <c:pt idx="1">
                  <c:v>5.12</c:v>
                </c:pt>
              </c:numCache>
            </c:numRef>
          </c:val>
          <c:extLst>
            <c:ext xmlns:c16="http://schemas.microsoft.com/office/drawing/2014/chart" uri="{C3380CC4-5D6E-409C-BE32-E72D297353CC}">
              <c16:uniqueId val="{00000004-2392-48DF-B6D6-FCCE716985F0}"/>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txPr>
        <a:bodyPr/>
        <a:lstStyle/>
        <a:p>
          <a:pPr>
            <a:defRPr sz="1100">
              <a:solidFill>
                <a:srgbClr val="16213E"/>
              </a:solidFill>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Profit (₦M)</c:v>
                </c:pt>
              </c:strCache>
            </c:strRef>
          </c:tx>
          <c:spPr>
            <a:solidFill>
              <a:srgbClr val="2EC4B6"/>
            </a:solidFill>
            <a:effectLst/>
          </c:spPr>
          <c:invertIfNegative val="0"/>
          <c:dLbls>
            <c:numFmt formatCode="0.00&quot;M&quot;" sourceLinked="0"/>
            <c:spPr>
              <a:noFill/>
              <a:ln>
                <a:noFill/>
              </a:ln>
              <a:effectLst/>
            </c:spPr>
            <c:txPr>
              <a:bodyPr/>
              <a:lstStyle/>
              <a:p>
                <a:pPr>
                  <a:defRPr sz="1100" b="0" i="0" u="none" strike="noStrike">
                    <a:solidFill>
                      <a:srgbClr val="1621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Zainab Abubakar
(North West)</c:v>
                </c:pt>
                <c:pt idx="1">
                  <c:v>Ifeoluwa Adeyemi
(North Central)</c:v>
                </c:pt>
                <c:pt idx="2">
                  <c:v>Ayodele Ogunleye
(South South)</c:v>
                </c:pt>
                <c:pt idx="3">
                  <c:v>Ngozi Eze
(South West)</c:v>
                </c:pt>
                <c:pt idx="4">
                  <c:v>Chukwudi Nwachukwu
(North East)</c:v>
                </c:pt>
                <c:pt idx="5">
                  <c:v>Emmanuel Okafor
(South East)</c:v>
                </c:pt>
              </c:strCache>
            </c:strRef>
          </c:cat>
          <c:val>
            <c:numRef>
              <c:f>Sheet1!$B$2:$B$7</c:f>
              <c:numCache>
                <c:formatCode>General</c:formatCode>
                <c:ptCount val="6"/>
                <c:pt idx="0">
                  <c:v>2.72</c:v>
                </c:pt>
                <c:pt idx="1">
                  <c:v>2.5099999999999998</c:v>
                </c:pt>
                <c:pt idx="2">
                  <c:v>2.38</c:v>
                </c:pt>
                <c:pt idx="3">
                  <c:v>2.2999999999999998</c:v>
                </c:pt>
                <c:pt idx="4">
                  <c:v>2.2599999999999998</c:v>
                </c:pt>
                <c:pt idx="5">
                  <c:v>1.71</c:v>
                </c:pt>
              </c:numCache>
            </c:numRef>
          </c:val>
          <c:extLst>
            <c:ext xmlns:c16="http://schemas.microsoft.com/office/drawing/2014/chart" uri="{C3380CC4-5D6E-409C-BE32-E72D297353CC}">
              <c16:uniqueId val="{00000000-97A3-437B-A9CD-CFB387B3B5C9}"/>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50" b="0" i="0" u="none" strike="noStrike">
                <a:solidFill>
                  <a:srgbClr val="16213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Profit (₦M)</c:v>
                </c:pt>
              </c:strCache>
            </c:strRef>
          </c:tx>
          <c:spPr>
            <a:solidFill>
              <a:srgbClr val="FF6B35"/>
            </a:solidFill>
            <a:effectLst/>
          </c:spPr>
          <c:invertIfNegative val="0"/>
          <c:dLbls>
            <c:numFmt formatCode="0.00&quot;M&quot;" sourceLinked="0"/>
            <c:spPr>
              <a:noFill/>
              <a:ln>
                <a:noFill/>
              </a:ln>
              <a:effectLst/>
            </c:spPr>
            <c:txPr>
              <a:bodyPr/>
              <a:lstStyle/>
              <a:p>
                <a:pPr>
                  <a:defRPr sz="1050" b="0" i="0" u="none" strike="noStrike">
                    <a:solidFill>
                      <a:srgbClr val="1621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Phones</c:v>
                </c:pt>
                <c:pt idx="1">
                  <c:v>Chairs</c:v>
                </c:pt>
                <c:pt idx="2">
                  <c:v>Tables</c:v>
                </c:pt>
                <c:pt idx="3">
                  <c:v>Accessories</c:v>
                </c:pt>
                <c:pt idx="4">
                  <c:v>Copiers</c:v>
                </c:pt>
              </c:strCache>
            </c:strRef>
          </c:cat>
          <c:val>
            <c:numRef>
              <c:f>Sheet1!$B$2:$B$6</c:f>
              <c:numCache>
                <c:formatCode>General</c:formatCode>
                <c:ptCount val="5"/>
                <c:pt idx="0">
                  <c:v>5.35</c:v>
                </c:pt>
                <c:pt idx="1">
                  <c:v>3.34</c:v>
                </c:pt>
                <c:pt idx="2">
                  <c:v>1.78</c:v>
                </c:pt>
                <c:pt idx="3">
                  <c:v>1.74</c:v>
                </c:pt>
                <c:pt idx="4">
                  <c:v>1.67</c:v>
                </c:pt>
              </c:numCache>
            </c:numRef>
          </c:val>
          <c:extLst>
            <c:ext xmlns:c16="http://schemas.microsoft.com/office/drawing/2014/chart" uri="{C3380CC4-5D6E-409C-BE32-E72D297353CC}">
              <c16:uniqueId val="{00000000-C14D-46C2-85BC-E30F323A5281}"/>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16213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b"/>
        <c:majorGridlines>
          <c:spPr>
            <a:ln w="12700" cap="flat">
              <a:solidFill>
                <a:srgbClr val="888888"/>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Profit (₦M)</c:v>
                </c:pt>
              </c:strCache>
            </c:strRef>
          </c:tx>
          <c:spPr>
            <a:solidFill>
              <a:srgbClr val="2EC4B6"/>
            </a:solidFill>
            <a:effectLst/>
          </c:spPr>
          <c:invertIfNegative val="0"/>
          <c:dLbls>
            <c:numFmt formatCode="0.00&quot;M&quot;" sourceLinked="0"/>
            <c:spPr>
              <a:noFill/>
              <a:ln>
                <a:noFill/>
              </a:ln>
              <a:effectLst/>
            </c:spPr>
            <c:txPr>
              <a:bodyPr/>
              <a:lstStyle/>
              <a:p>
                <a:pPr>
                  <a:defRPr sz="1050" b="0" i="0" u="none" strike="noStrike">
                    <a:solidFill>
                      <a:srgbClr val="16213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Medium</c:v>
                </c:pt>
                <c:pt idx="1">
                  <c:v>High</c:v>
                </c:pt>
                <c:pt idx="2">
                  <c:v>Critical</c:v>
                </c:pt>
                <c:pt idx="3">
                  <c:v>Low</c:v>
                </c:pt>
              </c:strCache>
            </c:strRef>
          </c:cat>
          <c:val>
            <c:numRef>
              <c:f>Sheet1!$B$2:$B$5</c:f>
              <c:numCache>
                <c:formatCode>General</c:formatCode>
                <c:ptCount val="4"/>
                <c:pt idx="0">
                  <c:v>5.66</c:v>
                </c:pt>
                <c:pt idx="1">
                  <c:v>5.55</c:v>
                </c:pt>
                <c:pt idx="2">
                  <c:v>2.06</c:v>
                </c:pt>
                <c:pt idx="3">
                  <c:v>0.59</c:v>
                </c:pt>
              </c:numCache>
            </c:numRef>
          </c:val>
          <c:extLst>
            <c:ext xmlns:c16="http://schemas.microsoft.com/office/drawing/2014/chart" uri="{C3380CC4-5D6E-409C-BE32-E72D297353CC}">
              <c16:uniqueId val="{00000000-222F-4971-87D6-6C7D970F8EF6}"/>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6213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doughnutChart>
        <c:varyColors val="1"/>
        <c:ser>
          <c:idx val="0"/>
          <c:order val="0"/>
          <c:tx>
            <c:strRef>
              <c:f>Sheet1!$B$1</c:f>
              <c:strCache>
                <c:ptCount val="1"/>
                <c:pt idx="0">
                  <c:v>Profit</c:v>
                </c:pt>
              </c:strCache>
            </c:strRef>
          </c:tx>
          <c:spPr>
            <a:solidFill>
              <a:schemeClr val="accent1"/>
            </a:solidFill>
            <a:ln w="9525" cap="flat">
              <a:solidFill>
                <a:srgbClr val="F9F9F9"/>
              </a:solidFill>
              <a:prstDash val="solid"/>
              <a:round/>
            </a:ln>
            <a:effectLst/>
          </c:spPr>
          <c:dPt>
            <c:idx val="0"/>
            <c:bubble3D val="0"/>
            <c:spPr>
              <a:solidFill>
                <a:srgbClr val="FF6B35"/>
              </a:solidFill>
              <a:effectLst/>
            </c:spPr>
            <c:extLst>
              <c:ext xmlns:c16="http://schemas.microsoft.com/office/drawing/2014/chart" uri="{C3380CC4-5D6E-409C-BE32-E72D297353CC}">
                <c16:uniqueId val="{00000001-8569-4A8A-AE11-C7EB1905E3C1}"/>
              </c:ext>
            </c:extLst>
          </c:dPt>
          <c:dPt>
            <c:idx val="1"/>
            <c:bubble3D val="0"/>
            <c:spPr>
              <a:solidFill>
                <a:srgbClr val="2EC4B6"/>
              </a:solidFill>
              <a:effectLst/>
            </c:spPr>
            <c:extLst>
              <c:ext xmlns:c16="http://schemas.microsoft.com/office/drawing/2014/chart" uri="{C3380CC4-5D6E-409C-BE32-E72D297353CC}">
                <c16:uniqueId val="{00000003-8569-4A8A-AE11-C7EB1905E3C1}"/>
              </c:ext>
            </c:extLst>
          </c:dPt>
          <c:dPt>
            <c:idx val="2"/>
            <c:bubble3D val="0"/>
            <c:spPr>
              <a:solidFill>
                <a:srgbClr val="FFB627"/>
              </a:solidFill>
              <a:effectLst/>
            </c:spPr>
            <c:extLst>
              <c:ext xmlns:c16="http://schemas.microsoft.com/office/drawing/2014/chart" uri="{C3380CC4-5D6E-409C-BE32-E72D297353CC}">
                <c16:uniqueId val="{00000005-8569-4A8A-AE11-C7EB1905E3C1}"/>
              </c:ext>
            </c:extLst>
          </c:dPt>
          <c:dLbls>
            <c:dLbl>
              <c:idx val="0"/>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569-4A8A-AE11-C7EB1905E3C1}"/>
                </c:ext>
              </c:extLst>
            </c:dLbl>
            <c:dLbl>
              <c:idx val="1"/>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569-4A8A-AE11-C7EB1905E3C1}"/>
                </c:ext>
              </c:extLst>
            </c:dLbl>
            <c:dLbl>
              <c:idx val="2"/>
              <c:numFmt formatCode="0%" sourceLinked="0"/>
              <c:spPr/>
              <c:txPr>
                <a:bodyPr/>
                <a:lstStyle/>
                <a:p>
                  <a:pPr>
                    <a:defRPr sz="11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8569-4A8A-AE11-C7EB1905E3C1}"/>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Sheet1!$A$2:$A$4</c:f>
              <c:strCache>
                <c:ptCount val="3"/>
                <c:pt idx="0">
                  <c:v>Consumer</c:v>
                </c:pt>
                <c:pt idx="1">
                  <c:v>Corporate</c:v>
                </c:pt>
                <c:pt idx="2">
                  <c:v>Home Office</c:v>
                </c:pt>
              </c:strCache>
            </c:strRef>
          </c:cat>
          <c:val>
            <c:numRef>
              <c:f>Sheet1!$B$2:$B$4</c:f>
              <c:numCache>
                <c:formatCode>General</c:formatCode>
                <c:ptCount val="3"/>
                <c:pt idx="0">
                  <c:v>6.81</c:v>
                </c:pt>
                <c:pt idx="1">
                  <c:v>4.49</c:v>
                </c:pt>
                <c:pt idx="2">
                  <c:v>2.58</c:v>
                </c:pt>
              </c:numCache>
            </c:numRef>
          </c:val>
          <c:extLst>
            <c:ext xmlns:c16="http://schemas.microsoft.com/office/drawing/2014/chart" uri="{C3380CC4-5D6E-409C-BE32-E72D297353CC}">
              <c16:uniqueId val="{00000006-8569-4A8A-AE11-C7EB1905E3C1}"/>
            </c:ext>
          </c:extLst>
        </c:ser>
        <c:dLbls>
          <c:showLegendKey val="0"/>
          <c:showVal val="0"/>
          <c:showCatName val="0"/>
          <c:showSerName val="0"/>
          <c:showPercent val="0"/>
          <c:showBubbleSize val="0"/>
          <c:showLeaderLines val="0"/>
        </c:dLbls>
        <c:firstSliceAng val="0"/>
        <c:holeSize val="55"/>
      </c:doughnutChart>
      <c:spPr>
        <a:noFill/>
        <a:ln>
          <a:noFill/>
        </a:ln>
        <a:effectLst/>
      </c:spPr>
    </c:plotArea>
    <c:legend>
      <c:legendPos val="b"/>
      <c:overlay val="0"/>
      <c:txPr>
        <a:bodyPr/>
        <a:lstStyle/>
        <a:p>
          <a:pPr>
            <a:defRPr sz="1100">
              <a:solidFill>
                <a:srgbClr val="16213E"/>
              </a:solidFill>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lineChart>
        <c:grouping val="standard"/>
        <c:varyColors val="0"/>
        <c:ser>
          <c:idx val="0"/>
          <c:order val="0"/>
          <c:tx>
            <c:strRef>
              <c:f>Sheet1!$B$1</c:f>
              <c:strCache>
                <c:ptCount val="1"/>
                <c:pt idx="0">
                  <c:v>Revenue (₦M)</c:v>
                </c:pt>
              </c:strCache>
            </c:strRef>
          </c:tx>
          <c:spPr>
            <a:ln w="38100" cap="flat">
              <a:solidFill>
                <a:srgbClr val="FF6B35"/>
              </a:solidFill>
              <a:prstDash val="solid"/>
              <a:round/>
            </a:ln>
            <a:effectLst/>
          </c:spPr>
          <c:marker>
            <c:symbol val="circle"/>
            <c:size val="8"/>
            <c:spPr>
              <a:solidFill>
                <a:srgbClr val="FF6B35"/>
              </a:solidFill>
              <a:ln w="9525" cap="flat">
                <a:solidFill>
                  <a:srgbClr val="FF6B35"/>
                </a:solidFill>
                <a:prstDash val="solid"/>
                <a:round/>
              </a:ln>
              <a:effectLst/>
            </c:spPr>
          </c:marker>
          <c:dLbls>
            <c:numFmt formatCode="0.00&quot;M&quot;" sourceLinked="0"/>
            <c:spPr>
              <a:noFill/>
              <a:ln>
                <a:noFill/>
              </a:ln>
              <a:effectLst/>
            </c:spPr>
            <c:txPr>
              <a:bodyPr/>
              <a:lstStyle/>
              <a:p>
                <a:pPr>
                  <a:defRPr sz="1100" b="0" i="0" u="none" strike="noStrike">
                    <a:solidFill>
                      <a:srgbClr val="16213E"/>
                    </a:solidFill>
                    <a:latin typeface="Arial"/>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2011</c:v>
                </c:pt>
                <c:pt idx="1">
                  <c:v>2012</c:v>
                </c:pt>
                <c:pt idx="2">
                  <c:v>2013</c:v>
                </c:pt>
                <c:pt idx="3">
                  <c:v>2014</c:v>
                </c:pt>
              </c:strCache>
            </c:strRef>
          </c:cat>
          <c:val>
            <c:numRef>
              <c:f>Sheet1!$B$2:$B$5</c:f>
              <c:numCache>
                <c:formatCode>General</c:formatCode>
                <c:ptCount val="4"/>
                <c:pt idx="0">
                  <c:v>2.48</c:v>
                </c:pt>
                <c:pt idx="1">
                  <c:v>2.78</c:v>
                </c:pt>
                <c:pt idx="2">
                  <c:v>3.91</c:v>
                </c:pt>
                <c:pt idx="3">
                  <c:v>5.04</c:v>
                </c:pt>
              </c:numCache>
            </c:numRef>
          </c:val>
          <c:smooth val="0"/>
          <c:extLst>
            <c:ext xmlns:c16="http://schemas.microsoft.com/office/drawing/2014/chart" uri="{C3380CC4-5D6E-409C-BE32-E72D297353CC}">
              <c16:uniqueId val="{00000000-98D4-4142-8D1F-74F0249225CA}"/>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6213E"/>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12700" cap="flat">
              <a:solidFill>
                <a:srgbClr val="888888"/>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9437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13E"/>
        </a:solidFill>
        <a:effectLst/>
      </p:bgPr>
    </p:bg>
    <p:spTree>
      <p:nvGrpSpPr>
        <p:cNvPr id="1" name=""/>
        <p:cNvGrpSpPr/>
        <p:nvPr/>
      </p:nvGrpSpPr>
      <p:grpSpPr>
        <a:xfrm>
          <a:off x="0" y="0"/>
          <a:ext cx="0" cy="0"/>
          <a:chOff x="0" y="0"/>
          <a:chExt cx="0" cy="0"/>
        </a:xfrm>
      </p:grpSpPr>
      <p:sp>
        <p:nvSpPr>
          <p:cNvPr id="2" name="Shape 0"/>
          <p:cNvSpPr/>
          <p:nvPr/>
        </p:nvSpPr>
        <p:spPr>
          <a:xfrm>
            <a:off x="9692640" y="-1463040"/>
            <a:ext cx="5029200" cy="5029200"/>
          </a:xfrm>
          <a:prstGeom prst="ellipse">
            <a:avLst/>
          </a:prstGeom>
          <a:solidFill>
            <a:srgbClr val="1F2E52"/>
          </a:solidFill>
          <a:ln/>
        </p:spPr>
      </p:sp>
      <p:sp>
        <p:nvSpPr>
          <p:cNvPr id="3" name="Shape 1"/>
          <p:cNvSpPr/>
          <p:nvPr/>
        </p:nvSpPr>
        <p:spPr>
          <a:xfrm>
            <a:off x="10881360" y="3931920"/>
            <a:ext cx="2926080" cy="2926080"/>
          </a:xfrm>
          <a:prstGeom prst="ellipse">
            <a:avLst/>
          </a:prstGeom>
          <a:solidFill>
            <a:srgbClr val="FF6B35">
              <a:alpha val="15000"/>
            </a:srgbClr>
          </a:solidFill>
          <a:ln/>
        </p:spPr>
      </p:sp>
      <p:sp>
        <p:nvSpPr>
          <p:cNvPr id="4" name="Shape 2"/>
          <p:cNvSpPr/>
          <p:nvPr/>
        </p:nvSpPr>
        <p:spPr>
          <a:xfrm>
            <a:off x="0" y="5989320"/>
            <a:ext cx="12188952" cy="868680"/>
          </a:xfrm>
          <a:prstGeom prst="rect">
            <a:avLst/>
          </a:prstGeom>
          <a:solidFill>
            <a:srgbClr val="1F2E52"/>
          </a:solidFill>
          <a:ln/>
        </p:spPr>
      </p:sp>
      <p:sp>
        <p:nvSpPr>
          <p:cNvPr id="5" name="Text 3"/>
          <p:cNvSpPr/>
          <p:nvPr/>
        </p:nvSpPr>
        <p:spPr>
          <a:xfrm>
            <a:off x="548640" y="502920"/>
            <a:ext cx="4572000" cy="365760"/>
          </a:xfrm>
          <a:prstGeom prst="rect">
            <a:avLst/>
          </a:prstGeom>
          <a:noFill/>
          <a:ln/>
        </p:spPr>
        <p:txBody>
          <a:bodyPr wrap="square" rtlCol="0" anchor="ctr"/>
          <a:lstStyle/>
          <a:p>
            <a:pPr marL="0" indent="0">
              <a:buNone/>
            </a:pPr>
            <a:endParaRPr lang="en-US" sz="1400" dirty="0"/>
          </a:p>
        </p:txBody>
      </p:sp>
      <p:sp>
        <p:nvSpPr>
          <p:cNvPr id="6" name="Text 4"/>
          <p:cNvSpPr/>
          <p:nvPr/>
        </p:nvSpPr>
        <p:spPr>
          <a:xfrm>
            <a:off x="548640" y="868680"/>
            <a:ext cx="5486400" cy="320040"/>
          </a:xfrm>
          <a:prstGeom prst="rect">
            <a:avLst/>
          </a:prstGeom>
          <a:noFill/>
          <a:ln/>
        </p:spPr>
        <p:txBody>
          <a:bodyPr wrap="square" rtlCol="0" anchor="ctr"/>
          <a:lstStyle/>
          <a:p>
            <a:pPr marL="0" indent="0">
              <a:buNone/>
            </a:pPr>
            <a:r>
              <a:rPr lang="en-US" sz="1200" b="1" kern="0" spc="200" dirty="0">
                <a:solidFill>
                  <a:srgbClr val="9AA5C9"/>
                </a:solidFill>
                <a:latin typeface="Calibri" pitchFamily="34" charset="0"/>
                <a:ea typeface="Calibri" pitchFamily="34" charset="-122"/>
                <a:cs typeface="Calibri" pitchFamily="34" charset="-120"/>
              </a:rPr>
              <a:t>POWER BI CAPSTONE ANALYSIS</a:t>
            </a:r>
            <a:endParaRPr lang="en-US" sz="1200" dirty="0"/>
          </a:p>
        </p:txBody>
      </p:sp>
      <p:sp>
        <p:nvSpPr>
          <p:cNvPr id="7" name="Text 5"/>
          <p:cNvSpPr/>
          <p:nvPr/>
        </p:nvSpPr>
        <p:spPr>
          <a:xfrm>
            <a:off x="548640" y="2286000"/>
            <a:ext cx="96012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Optimus-Elite Superstore</a:t>
            </a:r>
            <a:endParaRPr lang="en-US" sz="4400" dirty="0"/>
          </a:p>
        </p:txBody>
      </p:sp>
      <p:sp>
        <p:nvSpPr>
          <p:cNvPr id="8" name="Text 6"/>
          <p:cNvSpPr/>
          <p:nvPr/>
        </p:nvSpPr>
        <p:spPr>
          <a:xfrm>
            <a:off x="548640" y="3246120"/>
            <a:ext cx="8686800" cy="731520"/>
          </a:xfrm>
          <a:prstGeom prst="rect">
            <a:avLst/>
          </a:prstGeom>
          <a:noFill/>
          <a:ln/>
        </p:spPr>
        <p:txBody>
          <a:bodyPr wrap="square" rtlCol="0" anchor="ctr"/>
          <a:lstStyle/>
          <a:p>
            <a:pPr marL="0" indent="0">
              <a:buNone/>
            </a:pPr>
            <a:r>
              <a:rPr lang="en-US" sz="1800" dirty="0">
                <a:solidFill>
                  <a:srgbClr val="C7CEE8"/>
                </a:solidFill>
                <a:latin typeface="Calibri" pitchFamily="34" charset="0"/>
                <a:ea typeface="Calibri" pitchFamily="34" charset="-122"/>
                <a:cs typeface="Calibri" pitchFamily="34" charset="-120"/>
              </a:rPr>
              <a:t>Performance Analysis: Profitability, Regional Efficiency &amp; Growth Opportunities</a:t>
            </a:r>
            <a:endParaRPr lang="en-US" sz="1800" dirty="0"/>
          </a:p>
        </p:txBody>
      </p:sp>
      <p:sp>
        <p:nvSpPr>
          <p:cNvPr id="9" name="Shape 7"/>
          <p:cNvSpPr/>
          <p:nvPr/>
        </p:nvSpPr>
        <p:spPr>
          <a:xfrm>
            <a:off x="548640" y="4160520"/>
            <a:ext cx="502920" cy="54864"/>
          </a:xfrm>
          <a:prstGeom prst="rect">
            <a:avLst/>
          </a:prstGeom>
          <a:solidFill>
            <a:srgbClr val="FF6B35"/>
          </a:solidFill>
          <a:ln/>
        </p:spPr>
      </p:sp>
      <p:sp>
        <p:nvSpPr>
          <p:cNvPr id="10" name="Text 8"/>
          <p:cNvSpPr/>
          <p:nvPr/>
        </p:nvSpPr>
        <p:spPr>
          <a:xfrm>
            <a:off x="548640" y="6217920"/>
            <a:ext cx="4572000" cy="36576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Prepared by Jeffrey Fagbemi  |  Data Analyst</a:t>
            </a:r>
            <a:endParaRPr lang="en-US" sz="1300" dirty="0"/>
          </a:p>
        </p:txBody>
      </p:sp>
      <p:sp>
        <p:nvSpPr>
          <p:cNvPr id="11" name="Text 9"/>
          <p:cNvSpPr/>
          <p:nvPr/>
        </p:nvSpPr>
        <p:spPr>
          <a:xfrm>
            <a:off x="8686800" y="6217920"/>
            <a:ext cx="2926080" cy="365760"/>
          </a:xfrm>
          <a:prstGeom prst="rect">
            <a:avLst/>
          </a:prstGeom>
          <a:noFill/>
          <a:ln/>
        </p:spPr>
        <p:txBody>
          <a:bodyPr wrap="square" rtlCol="0" anchor="ctr"/>
          <a:lstStyle/>
          <a:p>
            <a:pPr marL="0" indent="0" algn="r">
              <a:buNone/>
            </a:pPr>
            <a:r>
              <a:rPr lang="en-US" sz="1300" dirty="0">
                <a:solidFill>
                  <a:srgbClr val="C7CEE8"/>
                </a:solidFill>
                <a:latin typeface="Calibri" pitchFamily="34" charset="0"/>
                <a:ea typeface="Calibri" pitchFamily="34" charset="-122"/>
                <a:cs typeface="Calibri" pitchFamily="34" charset="-120"/>
              </a:rPr>
              <a:t>2011 – 2014 Sales Data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EXECUTIVE SUMMARY</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6213E"/>
                </a:solidFill>
                <a:latin typeface="Calibri" pitchFamily="34" charset="0"/>
                <a:ea typeface="Calibri" pitchFamily="34" charset="-122"/>
                <a:cs typeface="Calibri" pitchFamily="34" charset="-120"/>
              </a:rPr>
              <a:t>Four years of growth, concentrated in a few strong performers</a:t>
            </a:r>
            <a:endParaRPr lang="en-US" sz="3000" dirty="0"/>
          </a:p>
        </p:txBody>
      </p:sp>
      <p:sp>
        <p:nvSpPr>
          <p:cNvPr id="4" name="Text 2"/>
          <p:cNvSpPr/>
          <p:nvPr/>
        </p:nvSpPr>
        <p:spPr>
          <a:xfrm>
            <a:off x="548640" y="1554480"/>
            <a:ext cx="6492240" cy="4206240"/>
          </a:xfrm>
          <a:prstGeom prst="rect">
            <a:avLst/>
          </a:prstGeom>
          <a:noFill/>
          <a:ln/>
        </p:spPr>
        <p:txBody>
          <a:bodyPr wrap="square" rtlCol="0" anchor="t"/>
          <a:lstStyle/>
          <a:p>
            <a:pPr marL="0" indent="0">
              <a:lnSpc>
                <a:spcPts val="2500"/>
              </a:lnSpc>
              <a:buNone/>
            </a:pPr>
            <a:r>
              <a:rPr lang="en-US" sz="1450" dirty="0">
                <a:solidFill>
                  <a:srgbClr val="374151"/>
                </a:solidFill>
                <a:latin typeface="Calibri" pitchFamily="34" charset="0"/>
                <a:ea typeface="Calibri" pitchFamily="34" charset="-122"/>
                <a:cs typeface="Calibri" pitchFamily="34" charset="-120"/>
              </a:rPr>
              <a:t>Between 2011 and 2014, Optimus-Elite Superstore generated ₦14.21M in revenue and ₦13.87M in profit across 999 orders, 54 products and 6,033 units sold. Growth has been consistent and accelerating  revenue more than doubled from 2011 to 2014, with the strongest single month recorded in June 2013. However, performance is uneven: Phones and Chairs alone account for over 65% of total profit, the North West and North Central regions substantially outperform the South East, and Low-priority orders contribute disproportionately little. These patterns point to clear, actionable opportunities to rebalance the portfolio and regional strategy.</a:t>
            </a:r>
            <a:endParaRPr lang="en-US" sz="1450" dirty="0"/>
          </a:p>
        </p:txBody>
      </p:sp>
      <p:sp>
        <p:nvSpPr>
          <p:cNvPr id="5" name="Shape 3"/>
          <p:cNvSpPr/>
          <p:nvPr/>
        </p:nvSpPr>
        <p:spPr>
          <a:xfrm>
            <a:off x="7452360" y="1417320"/>
            <a:ext cx="4160520" cy="914400"/>
          </a:xfrm>
          <a:prstGeom prst="rect">
            <a:avLst/>
          </a:prstGeom>
          <a:solidFill>
            <a:srgbClr val="F6F7FA"/>
          </a:solidFill>
          <a:ln/>
        </p:spPr>
      </p:sp>
      <p:sp>
        <p:nvSpPr>
          <p:cNvPr id="6" name="Shape 4"/>
          <p:cNvSpPr/>
          <p:nvPr/>
        </p:nvSpPr>
        <p:spPr>
          <a:xfrm>
            <a:off x="7452360" y="1417320"/>
            <a:ext cx="82296" cy="914400"/>
          </a:xfrm>
          <a:prstGeom prst="rect">
            <a:avLst/>
          </a:prstGeom>
          <a:solidFill>
            <a:srgbClr val="FF6B35"/>
          </a:solidFill>
          <a:ln/>
        </p:spPr>
      </p:sp>
      <p:sp>
        <p:nvSpPr>
          <p:cNvPr id="7" name="Text 5"/>
          <p:cNvSpPr/>
          <p:nvPr/>
        </p:nvSpPr>
        <p:spPr>
          <a:xfrm>
            <a:off x="7726680" y="1490472"/>
            <a:ext cx="3566160" cy="502920"/>
          </a:xfrm>
          <a:prstGeom prst="rect">
            <a:avLst/>
          </a:prstGeom>
          <a:noFill/>
          <a:ln/>
        </p:spPr>
        <p:txBody>
          <a:bodyPr wrap="square" rtlCol="0" anchor="ctr"/>
          <a:lstStyle/>
          <a:p>
            <a:pPr marL="0" indent="0">
              <a:buNone/>
            </a:pPr>
            <a:r>
              <a:rPr lang="en-US" sz="2400" b="1" dirty="0">
                <a:solidFill>
                  <a:srgbClr val="16213E"/>
                </a:solidFill>
                <a:latin typeface="Calibri" pitchFamily="34" charset="0"/>
                <a:ea typeface="Calibri" pitchFamily="34" charset="-122"/>
                <a:cs typeface="Calibri" pitchFamily="34" charset="-120"/>
              </a:rPr>
              <a:t>₦14.21M</a:t>
            </a:r>
            <a:endParaRPr lang="en-US" sz="2400" dirty="0"/>
          </a:p>
        </p:txBody>
      </p:sp>
      <p:sp>
        <p:nvSpPr>
          <p:cNvPr id="8" name="Text 6"/>
          <p:cNvSpPr/>
          <p:nvPr/>
        </p:nvSpPr>
        <p:spPr>
          <a:xfrm>
            <a:off x="7726680" y="1984248"/>
            <a:ext cx="3566160" cy="274320"/>
          </a:xfrm>
          <a:prstGeom prst="rect">
            <a:avLst/>
          </a:prstGeom>
          <a:noFill/>
          <a:ln/>
        </p:spPr>
        <p:txBody>
          <a:bodyPr wrap="square" rtlCol="0" anchor="ctr"/>
          <a:lstStyle/>
          <a:p>
            <a:pPr marL="0" indent="0">
              <a:buNone/>
            </a:pPr>
            <a:r>
              <a:rPr lang="en-US" sz="1050" b="1" kern="0" spc="100" dirty="0">
                <a:solidFill>
                  <a:srgbClr val="6B7280"/>
                </a:solidFill>
                <a:latin typeface="Calibri" pitchFamily="34" charset="0"/>
                <a:ea typeface="Calibri" pitchFamily="34" charset="-122"/>
                <a:cs typeface="Calibri" pitchFamily="34" charset="-120"/>
              </a:rPr>
              <a:t>TOTAL REVENUE</a:t>
            </a:r>
            <a:endParaRPr lang="en-US" sz="1050" dirty="0"/>
          </a:p>
        </p:txBody>
      </p:sp>
      <p:sp>
        <p:nvSpPr>
          <p:cNvPr id="9" name="Shape 7"/>
          <p:cNvSpPr/>
          <p:nvPr/>
        </p:nvSpPr>
        <p:spPr>
          <a:xfrm>
            <a:off x="7452360" y="2514600"/>
            <a:ext cx="4160520" cy="914400"/>
          </a:xfrm>
          <a:prstGeom prst="rect">
            <a:avLst/>
          </a:prstGeom>
          <a:solidFill>
            <a:srgbClr val="F6F7FA"/>
          </a:solidFill>
          <a:ln/>
        </p:spPr>
      </p:sp>
      <p:sp>
        <p:nvSpPr>
          <p:cNvPr id="10" name="Shape 8"/>
          <p:cNvSpPr/>
          <p:nvPr/>
        </p:nvSpPr>
        <p:spPr>
          <a:xfrm>
            <a:off x="7452360" y="2514600"/>
            <a:ext cx="82296" cy="914400"/>
          </a:xfrm>
          <a:prstGeom prst="rect">
            <a:avLst/>
          </a:prstGeom>
          <a:solidFill>
            <a:srgbClr val="2EC4B6"/>
          </a:solidFill>
          <a:ln/>
        </p:spPr>
      </p:sp>
      <p:sp>
        <p:nvSpPr>
          <p:cNvPr id="11" name="Text 9"/>
          <p:cNvSpPr/>
          <p:nvPr/>
        </p:nvSpPr>
        <p:spPr>
          <a:xfrm>
            <a:off x="7726680" y="2587752"/>
            <a:ext cx="3566160" cy="502920"/>
          </a:xfrm>
          <a:prstGeom prst="rect">
            <a:avLst/>
          </a:prstGeom>
          <a:noFill/>
          <a:ln/>
        </p:spPr>
        <p:txBody>
          <a:bodyPr wrap="square" rtlCol="0" anchor="ctr"/>
          <a:lstStyle/>
          <a:p>
            <a:pPr marL="0" indent="0">
              <a:buNone/>
            </a:pPr>
            <a:r>
              <a:rPr lang="en-US" sz="2400" b="1" dirty="0">
                <a:solidFill>
                  <a:srgbClr val="16213E"/>
                </a:solidFill>
                <a:latin typeface="Calibri" pitchFamily="34" charset="0"/>
                <a:ea typeface="Calibri" pitchFamily="34" charset="-122"/>
                <a:cs typeface="Calibri" pitchFamily="34" charset="-120"/>
              </a:rPr>
              <a:t>₦13.87M</a:t>
            </a:r>
            <a:endParaRPr lang="en-US" sz="2400" dirty="0"/>
          </a:p>
        </p:txBody>
      </p:sp>
      <p:sp>
        <p:nvSpPr>
          <p:cNvPr id="12" name="Text 10"/>
          <p:cNvSpPr/>
          <p:nvPr/>
        </p:nvSpPr>
        <p:spPr>
          <a:xfrm>
            <a:off x="7726680" y="3081528"/>
            <a:ext cx="3566160" cy="274320"/>
          </a:xfrm>
          <a:prstGeom prst="rect">
            <a:avLst/>
          </a:prstGeom>
          <a:noFill/>
          <a:ln/>
        </p:spPr>
        <p:txBody>
          <a:bodyPr wrap="square" rtlCol="0" anchor="ctr"/>
          <a:lstStyle/>
          <a:p>
            <a:pPr marL="0" indent="0">
              <a:buNone/>
            </a:pPr>
            <a:r>
              <a:rPr lang="en-US" sz="1050" b="1" kern="0" spc="100" dirty="0">
                <a:solidFill>
                  <a:srgbClr val="6B7280"/>
                </a:solidFill>
                <a:latin typeface="Calibri" pitchFamily="34" charset="0"/>
                <a:ea typeface="Calibri" pitchFamily="34" charset="-122"/>
                <a:cs typeface="Calibri" pitchFamily="34" charset="-120"/>
              </a:rPr>
              <a:t>TOTAL PROFIT</a:t>
            </a:r>
            <a:endParaRPr lang="en-US" sz="1050" dirty="0"/>
          </a:p>
        </p:txBody>
      </p:sp>
      <p:sp>
        <p:nvSpPr>
          <p:cNvPr id="13" name="Shape 11"/>
          <p:cNvSpPr/>
          <p:nvPr/>
        </p:nvSpPr>
        <p:spPr>
          <a:xfrm>
            <a:off x="7452360" y="3611880"/>
            <a:ext cx="4160520" cy="914400"/>
          </a:xfrm>
          <a:prstGeom prst="rect">
            <a:avLst/>
          </a:prstGeom>
          <a:solidFill>
            <a:srgbClr val="F6F7FA"/>
          </a:solidFill>
          <a:ln/>
        </p:spPr>
      </p:sp>
      <p:sp>
        <p:nvSpPr>
          <p:cNvPr id="14" name="Shape 12"/>
          <p:cNvSpPr/>
          <p:nvPr/>
        </p:nvSpPr>
        <p:spPr>
          <a:xfrm>
            <a:off x="7452360" y="3611880"/>
            <a:ext cx="82296" cy="914400"/>
          </a:xfrm>
          <a:prstGeom prst="rect">
            <a:avLst/>
          </a:prstGeom>
          <a:solidFill>
            <a:srgbClr val="FFB627"/>
          </a:solidFill>
          <a:ln/>
        </p:spPr>
      </p:sp>
      <p:sp>
        <p:nvSpPr>
          <p:cNvPr id="15" name="Text 13"/>
          <p:cNvSpPr/>
          <p:nvPr/>
        </p:nvSpPr>
        <p:spPr>
          <a:xfrm>
            <a:off x="7726680" y="3685032"/>
            <a:ext cx="3566160" cy="502920"/>
          </a:xfrm>
          <a:prstGeom prst="rect">
            <a:avLst/>
          </a:prstGeom>
          <a:noFill/>
          <a:ln/>
        </p:spPr>
        <p:txBody>
          <a:bodyPr wrap="square" rtlCol="0" anchor="ctr"/>
          <a:lstStyle/>
          <a:p>
            <a:pPr marL="0" indent="0">
              <a:buNone/>
            </a:pPr>
            <a:r>
              <a:rPr lang="en-US" sz="2400" b="1" dirty="0">
                <a:solidFill>
                  <a:srgbClr val="16213E"/>
                </a:solidFill>
                <a:latin typeface="Calibri" pitchFamily="34" charset="0"/>
                <a:ea typeface="Calibri" pitchFamily="34" charset="-122"/>
                <a:cs typeface="Calibri" pitchFamily="34" charset="-120"/>
              </a:rPr>
              <a:t>6,033</a:t>
            </a:r>
            <a:endParaRPr lang="en-US" sz="2400" dirty="0"/>
          </a:p>
        </p:txBody>
      </p:sp>
      <p:sp>
        <p:nvSpPr>
          <p:cNvPr id="16" name="Text 14"/>
          <p:cNvSpPr/>
          <p:nvPr/>
        </p:nvSpPr>
        <p:spPr>
          <a:xfrm>
            <a:off x="7726680" y="4178808"/>
            <a:ext cx="3566160" cy="274320"/>
          </a:xfrm>
          <a:prstGeom prst="rect">
            <a:avLst/>
          </a:prstGeom>
          <a:noFill/>
          <a:ln/>
        </p:spPr>
        <p:txBody>
          <a:bodyPr wrap="square" rtlCol="0" anchor="ctr"/>
          <a:lstStyle/>
          <a:p>
            <a:pPr marL="0" indent="0">
              <a:buNone/>
            </a:pPr>
            <a:r>
              <a:rPr lang="en-US" sz="1050" b="1" kern="0" spc="100" dirty="0">
                <a:solidFill>
                  <a:srgbClr val="6B7280"/>
                </a:solidFill>
                <a:latin typeface="Calibri" pitchFamily="34" charset="0"/>
                <a:ea typeface="Calibri" pitchFamily="34" charset="-122"/>
                <a:cs typeface="Calibri" pitchFamily="34" charset="-120"/>
              </a:rPr>
              <a:t>UNITS SOLD</a:t>
            </a:r>
            <a:endParaRPr lang="en-US" sz="1050" dirty="0"/>
          </a:p>
        </p:txBody>
      </p:sp>
      <p:sp>
        <p:nvSpPr>
          <p:cNvPr id="17" name="Shape 15"/>
          <p:cNvSpPr/>
          <p:nvPr/>
        </p:nvSpPr>
        <p:spPr>
          <a:xfrm>
            <a:off x="7452360" y="4709160"/>
            <a:ext cx="4160520" cy="914400"/>
          </a:xfrm>
          <a:prstGeom prst="rect">
            <a:avLst/>
          </a:prstGeom>
          <a:solidFill>
            <a:srgbClr val="F6F7FA"/>
          </a:solidFill>
          <a:ln/>
        </p:spPr>
      </p:sp>
      <p:sp>
        <p:nvSpPr>
          <p:cNvPr id="18" name="Shape 16"/>
          <p:cNvSpPr/>
          <p:nvPr/>
        </p:nvSpPr>
        <p:spPr>
          <a:xfrm>
            <a:off x="7452360" y="4709160"/>
            <a:ext cx="82296" cy="914400"/>
          </a:xfrm>
          <a:prstGeom prst="rect">
            <a:avLst/>
          </a:prstGeom>
          <a:solidFill>
            <a:srgbClr val="E15554"/>
          </a:solidFill>
          <a:ln/>
        </p:spPr>
      </p:sp>
      <p:sp>
        <p:nvSpPr>
          <p:cNvPr id="19" name="Text 17"/>
          <p:cNvSpPr/>
          <p:nvPr/>
        </p:nvSpPr>
        <p:spPr>
          <a:xfrm>
            <a:off x="7726680" y="4782312"/>
            <a:ext cx="3566160" cy="502920"/>
          </a:xfrm>
          <a:prstGeom prst="rect">
            <a:avLst/>
          </a:prstGeom>
          <a:noFill/>
          <a:ln/>
        </p:spPr>
        <p:txBody>
          <a:bodyPr wrap="square" rtlCol="0" anchor="ctr"/>
          <a:lstStyle/>
          <a:p>
            <a:pPr marL="0" indent="0">
              <a:buNone/>
            </a:pPr>
            <a:r>
              <a:rPr lang="en-US" sz="2400" b="1" dirty="0">
                <a:solidFill>
                  <a:srgbClr val="16213E"/>
                </a:solidFill>
                <a:latin typeface="Calibri" pitchFamily="34" charset="0"/>
                <a:ea typeface="Calibri" pitchFamily="34" charset="-122"/>
                <a:cs typeface="Calibri" pitchFamily="34" charset="-120"/>
              </a:rPr>
              <a:t>54</a:t>
            </a:r>
            <a:endParaRPr lang="en-US" sz="2400" dirty="0"/>
          </a:p>
        </p:txBody>
      </p:sp>
      <p:sp>
        <p:nvSpPr>
          <p:cNvPr id="20" name="Text 18"/>
          <p:cNvSpPr/>
          <p:nvPr/>
        </p:nvSpPr>
        <p:spPr>
          <a:xfrm>
            <a:off x="7726680" y="5276088"/>
            <a:ext cx="3566160" cy="274320"/>
          </a:xfrm>
          <a:prstGeom prst="rect">
            <a:avLst/>
          </a:prstGeom>
          <a:noFill/>
          <a:ln/>
        </p:spPr>
        <p:txBody>
          <a:bodyPr wrap="square" rtlCol="0" anchor="ctr"/>
          <a:lstStyle/>
          <a:p>
            <a:pPr marL="0" indent="0">
              <a:buNone/>
            </a:pPr>
            <a:r>
              <a:rPr lang="en-US" sz="1050" b="1" kern="0" spc="100" dirty="0">
                <a:solidFill>
                  <a:srgbClr val="6B7280"/>
                </a:solidFill>
                <a:latin typeface="Calibri" pitchFamily="34" charset="0"/>
                <a:ea typeface="Calibri" pitchFamily="34" charset="-122"/>
                <a:cs typeface="Calibri" pitchFamily="34" charset="-120"/>
              </a:rPr>
              <a:t>PRODUCTS SOLD</a:t>
            </a:r>
            <a:endParaRPr lang="en-US" sz="1050" dirty="0"/>
          </a:p>
        </p:txBody>
      </p:sp>
      <p:sp>
        <p:nvSpPr>
          <p:cNvPr id="21" name="Text 19"/>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KEY FINDING 1 · OVERALL PERFORMANCE</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6213E"/>
                </a:solidFill>
                <a:latin typeface="Calibri" pitchFamily="34" charset="0"/>
                <a:ea typeface="Calibri" pitchFamily="34" charset="-122"/>
                <a:cs typeface="Calibri" pitchFamily="34" charset="-120"/>
              </a:rPr>
              <a:t>Revenue and profit at a glance</a:t>
            </a:r>
            <a:endParaRPr lang="en-US" sz="3000" dirty="0"/>
          </a:p>
        </p:txBody>
      </p:sp>
      <p:sp>
        <p:nvSpPr>
          <p:cNvPr id="4" name="Shape 2"/>
          <p:cNvSpPr/>
          <p:nvPr/>
        </p:nvSpPr>
        <p:spPr>
          <a:xfrm>
            <a:off x="548640" y="1600200"/>
            <a:ext cx="2606040" cy="1828800"/>
          </a:xfrm>
          <a:prstGeom prst="rect">
            <a:avLst/>
          </a:prstGeom>
          <a:solidFill>
            <a:srgbClr val="16213E"/>
          </a:solidFill>
          <a:ln/>
        </p:spPr>
      </p:sp>
      <p:sp>
        <p:nvSpPr>
          <p:cNvPr id="5" name="Shape 3"/>
          <p:cNvSpPr/>
          <p:nvPr/>
        </p:nvSpPr>
        <p:spPr>
          <a:xfrm>
            <a:off x="777240" y="1828800"/>
            <a:ext cx="457200" cy="73152"/>
          </a:xfrm>
          <a:prstGeom prst="rect">
            <a:avLst/>
          </a:prstGeom>
          <a:solidFill>
            <a:srgbClr val="FF6B35"/>
          </a:solidFill>
          <a:ln/>
        </p:spPr>
      </p:sp>
      <p:sp>
        <p:nvSpPr>
          <p:cNvPr id="6" name="Text 4"/>
          <p:cNvSpPr/>
          <p:nvPr/>
        </p:nvSpPr>
        <p:spPr>
          <a:xfrm>
            <a:off x="731520" y="2011680"/>
            <a:ext cx="2240280" cy="5943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₦14,211,643</a:t>
            </a:r>
            <a:endParaRPr lang="en-US" sz="2200" dirty="0"/>
          </a:p>
        </p:txBody>
      </p:sp>
      <p:sp>
        <p:nvSpPr>
          <p:cNvPr id="7" name="Text 5"/>
          <p:cNvSpPr/>
          <p:nvPr/>
        </p:nvSpPr>
        <p:spPr>
          <a:xfrm>
            <a:off x="731520" y="2606040"/>
            <a:ext cx="2240280" cy="274320"/>
          </a:xfrm>
          <a:prstGeom prst="rect">
            <a:avLst/>
          </a:prstGeom>
          <a:noFill/>
          <a:ln/>
        </p:spPr>
        <p:txBody>
          <a:bodyPr wrap="square" rtlCol="0" anchor="ctr"/>
          <a:lstStyle/>
          <a:p>
            <a:pPr marL="0" indent="0">
              <a:buNone/>
            </a:pPr>
            <a:r>
              <a:rPr lang="en-US" sz="1200" b="1" dirty="0">
                <a:solidFill>
                  <a:srgbClr val="FF6B35"/>
                </a:solidFill>
                <a:latin typeface="Calibri" pitchFamily="34" charset="0"/>
                <a:ea typeface="Calibri" pitchFamily="34" charset="-122"/>
                <a:cs typeface="Calibri" pitchFamily="34" charset="-120"/>
              </a:rPr>
              <a:t>Total Revenue</a:t>
            </a:r>
            <a:endParaRPr lang="en-US" sz="1200" dirty="0"/>
          </a:p>
        </p:txBody>
      </p:sp>
      <p:sp>
        <p:nvSpPr>
          <p:cNvPr id="8" name="Text 6"/>
          <p:cNvSpPr/>
          <p:nvPr/>
        </p:nvSpPr>
        <p:spPr>
          <a:xfrm>
            <a:off x="731520" y="2880360"/>
            <a:ext cx="2286000" cy="502920"/>
          </a:xfrm>
          <a:prstGeom prst="rect">
            <a:avLst/>
          </a:prstGeom>
          <a:noFill/>
          <a:ln/>
        </p:spPr>
        <p:txBody>
          <a:bodyPr wrap="square" rtlCol="0" anchor="ctr"/>
          <a:lstStyle/>
          <a:p>
            <a:pPr marL="0" indent="0">
              <a:buNone/>
            </a:pPr>
            <a:r>
              <a:rPr lang="en-US" sz="950" dirty="0">
                <a:solidFill>
                  <a:srgbClr val="AEB6D6"/>
                </a:solidFill>
                <a:latin typeface="Calibri" pitchFamily="34" charset="0"/>
                <a:ea typeface="Calibri" pitchFamily="34" charset="-122"/>
                <a:cs typeface="Calibri" pitchFamily="34" charset="-120"/>
              </a:rPr>
              <a:t>Price × Quantity across 999 orders</a:t>
            </a:r>
            <a:endParaRPr lang="en-US" sz="950" dirty="0"/>
          </a:p>
        </p:txBody>
      </p:sp>
      <p:sp>
        <p:nvSpPr>
          <p:cNvPr id="9" name="Shape 7"/>
          <p:cNvSpPr/>
          <p:nvPr/>
        </p:nvSpPr>
        <p:spPr>
          <a:xfrm>
            <a:off x="3310128" y="1600200"/>
            <a:ext cx="2606040" cy="1828800"/>
          </a:xfrm>
          <a:prstGeom prst="rect">
            <a:avLst/>
          </a:prstGeom>
          <a:solidFill>
            <a:srgbClr val="16213E"/>
          </a:solidFill>
          <a:ln/>
        </p:spPr>
      </p:sp>
      <p:sp>
        <p:nvSpPr>
          <p:cNvPr id="10" name="Shape 8"/>
          <p:cNvSpPr/>
          <p:nvPr/>
        </p:nvSpPr>
        <p:spPr>
          <a:xfrm>
            <a:off x="3538728" y="1828800"/>
            <a:ext cx="457200" cy="73152"/>
          </a:xfrm>
          <a:prstGeom prst="rect">
            <a:avLst/>
          </a:prstGeom>
          <a:solidFill>
            <a:srgbClr val="2EC4B6"/>
          </a:solidFill>
          <a:ln/>
        </p:spPr>
      </p:sp>
      <p:sp>
        <p:nvSpPr>
          <p:cNvPr id="11" name="Text 9"/>
          <p:cNvSpPr/>
          <p:nvPr/>
        </p:nvSpPr>
        <p:spPr>
          <a:xfrm>
            <a:off x="3493008" y="2011680"/>
            <a:ext cx="2240280" cy="5943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₦13,874,411</a:t>
            </a:r>
            <a:endParaRPr lang="en-US" sz="2200" dirty="0"/>
          </a:p>
        </p:txBody>
      </p:sp>
      <p:sp>
        <p:nvSpPr>
          <p:cNvPr id="12" name="Text 10"/>
          <p:cNvSpPr/>
          <p:nvPr/>
        </p:nvSpPr>
        <p:spPr>
          <a:xfrm>
            <a:off x="3493008" y="2606040"/>
            <a:ext cx="2240280" cy="274320"/>
          </a:xfrm>
          <a:prstGeom prst="rect">
            <a:avLst/>
          </a:prstGeom>
          <a:noFill/>
          <a:ln/>
        </p:spPr>
        <p:txBody>
          <a:bodyPr wrap="square" rtlCol="0" anchor="ctr"/>
          <a:lstStyle/>
          <a:p>
            <a:pPr marL="0" indent="0">
              <a:buNone/>
            </a:pPr>
            <a:r>
              <a:rPr lang="en-US" sz="1200" b="1" dirty="0">
                <a:solidFill>
                  <a:srgbClr val="2EC4B6"/>
                </a:solidFill>
                <a:latin typeface="Calibri" pitchFamily="34" charset="0"/>
                <a:ea typeface="Calibri" pitchFamily="34" charset="-122"/>
                <a:cs typeface="Calibri" pitchFamily="34" charset="-120"/>
              </a:rPr>
              <a:t>Total Profit</a:t>
            </a:r>
            <a:endParaRPr lang="en-US" sz="1200" dirty="0"/>
          </a:p>
        </p:txBody>
      </p:sp>
      <p:sp>
        <p:nvSpPr>
          <p:cNvPr id="13" name="Text 11"/>
          <p:cNvSpPr/>
          <p:nvPr/>
        </p:nvSpPr>
        <p:spPr>
          <a:xfrm>
            <a:off x="3493008" y="2880360"/>
            <a:ext cx="2286000" cy="502920"/>
          </a:xfrm>
          <a:prstGeom prst="rect">
            <a:avLst/>
          </a:prstGeom>
          <a:noFill/>
          <a:ln/>
        </p:spPr>
        <p:txBody>
          <a:bodyPr wrap="square" rtlCol="0" anchor="ctr"/>
          <a:lstStyle/>
          <a:p>
            <a:pPr marL="0" indent="0">
              <a:buNone/>
            </a:pPr>
            <a:r>
              <a:rPr lang="en-US" sz="950" dirty="0">
                <a:solidFill>
                  <a:srgbClr val="AEB6D6"/>
                </a:solidFill>
                <a:latin typeface="Calibri" pitchFamily="34" charset="0"/>
                <a:ea typeface="Calibri" pitchFamily="34" charset="-122"/>
                <a:cs typeface="Calibri" pitchFamily="34" charset="-120"/>
              </a:rPr>
              <a:t>Revenue less cost of sales</a:t>
            </a:r>
            <a:endParaRPr lang="en-US" sz="950" dirty="0"/>
          </a:p>
        </p:txBody>
      </p:sp>
      <p:sp>
        <p:nvSpPr>
          <p:cNvPr id="14" name="Shape 12"/>
          <p:cNvSpPr/>
          <p:nvPr/>
        </p:nvSpPr>
        <p:spPr>
          <a:xfrm>
            <a:off x="6071616" y="1600200"/>
            <a:ext cx="2606040" cy="1828800"/>
          </a:xfrm>
          <a:prstGeom prst="rect">
            <a:avLst/>
          </a:prstGeom>
          <a:solidFill>
            <a:srgbClr val="16213E"/>
          </a:solidFill>
          <a:ln/>
        </p:spPr>
      </p:sp>
      <p:sp>
        <p:nvSpPr>
          <p:cNvPr id="15" name="Shape 13"/>
          <p:cNvSpPr/>
          <p:nvPr/>
        </p:nvSpPr>
        <p:spPr>
          <a:xfrm>
            <a:off x="6300216" y="1828800"/>
            <a:ext cx="457200" cy="73152"/>
          </a:xfrm>
          <a:prstGeom prst="rect">
            <a:avLst/>
          </a:prstGeom>
          <a:solidFill>
            <a:srgbClr val="FFB627"/>
          </a:solidFill>
          <a:ln/>
        </p:spPr>
      </p:sp>
      <p:sp>
        <p:nvSpPr>
          <p:cNvPr id="16" name="Text 14"/>
          <p:cNvSpPr/>
          <p:nvPr/>
        </p:nvSpPr>
        <p:spPr>
          <a:xfrm>
            <a:off x="6254496" y="2011680"/>
            <a:ext cx="2240280" cy="5943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54</a:t>
            </a:r>
            <a:endParaRPr lang="en-US" sz="2200" dirty="0"/>
          </a:p>
        </p:txBody>
      </p:sp>
      <p:sp>
        <p:nvSpPr>
          <p:cNvPr id="17" name="Text 15"/>
          <p:cNvSpPr/>
          <p:nvPr/>
        </p:nvSpPr>
        <p:spPr>
          <a:xfrm>
            <a:off x="6254496" y="2606040"/>
            <a:ext cx="2240280" cy="274320"/>
          </a:xfrm>
          <a:prstGeom prst="rect">
            <a:avLst/>
          </a:prstGeom>
          <a:noFill/>
          <a:ln/>
        </p:spPr>
        <p:txBody>
          <a:bodyPr wrap="square" rtlCol="0" anchor="ctr"/>
          <a:lstStyle/>
          <a:p>
            <a:pPr marL="0" indent="0">
              <a:buNone/>
            </a:pPr>
            <a:r>
              <a:rPr lang="en-US" sz="1200" b="1" dirty="0">
                <a:solidFill>
                  <a:srgbClr val="FFB627"/>
                </a:solidFill>
                <a:latin typeface="Calibri" pitchFamily="34" charset="0"/>
                <a:ea typeface="Calibri" pitchFamily="34" charset="-122"/>
                <a:cs typeface="Calibri" pitchFamily="34" charset="-120"/>
              </a:rPr>
              <a:t>Products Sold</a:t>
            </a:r>
            <a:endParaRPr lang="en-US" sz="1200" dirty="0"/>
          </a:p>
        </p:txBody>
      </p:sp>
      <p:sp>
        <p:nvSpPr>
          <p:cNvPr id="18" name="Text 16"/>
          <p:cNvSpPr/>
          <p:nvPr/>
        </p:nvSpPr>
        <p:spPr>
          <a:xfrm>
            <a:off x="6254496" y="2880360"/>
            <a:ext cx="2286000" cy="502920"/>
          </a:xfrm>
          <a:prstGeom prst="rect">
            <a:avLst/>
          </a:prstGeom>
          <a:noFill/>
          <a:ln/>
        </p:spPr>
        <p:txBody>
          <a:bodyPr wrap="square" rtlCol="0" anchor="ctr"/>
          <a:lstStyle/>
          <a:p>
            <a:pPr marL="0" indent="0">
              <a:buNone/>
            </a:pPr>
            <a:r>
              <a:rPr lang="en-US" sz="950" dirty="0">
                <a:solidFill>
                  <a:srgbClr val="AEB6D6"/>
                </a:solidFill>
                <a:latin typeface="Calibri" pitchFamily="34" charset="0"/>
                <a:ea typeface="Calibri" pitchFamily="34" charset="-122"/>
                <a:cs typeface="Calibri" pitchFamily="34" charset="-120"/>
              </a:rPr>
              <a:t>Distinct SKUs across 2 categories</a:t>
            </a:r>
            <a:endParaRPr lang="en-US" sz="950" dirty="0"/>
          </a:p>
        </p:txBody>
      </p:sp>
      <p:sp>
        <p:nvSpPr>
          <p:cNvPr id="19" name="Shape 17"/>
          <p:cNvSpPr/>
          <p:nvPr/>
        </p:nvSpPr>
        <p:spPr>
          <a:xfrm>
            <a:off x="8833104" y="1600200"/>
            <a:ext cx="2606040" cy="1828800"/>
          </a:xfrm>
          <a:prstGeom prst="rect">
            <a:avLst/>
          </a:prstGeom>
          <a:solidFill>
            <a:srgbClr val="16213E"/>
          </a:solidFill>
          <a:ln/>
        </p:spPr>
      </p:sp>
      <p:sp>
        <p:nvSpPr>
          <p:cNvPr id="20" name="Shape 18"/>
          <p:cNvSpPr/>
          <p:nvPr/>
        </p:nvSpPr>
        <p:spPr>
          <a:xfrm>
            <a:off x="9061704" y="1828800"/>
            <a:ext cx="457200" cy="73152"/>
          </a:xfrm>
          <a:prstGeom prst="rect">
            <a:avLst/>
          </a:prstGeom>
          <a:solidFill>
            <a:srgbClr val="E15554"/>
          </a:solidFill>
          <a:ln/>
        </p:spPr>
      </p:sp>
      <p:sp>
        <p:nvSpPr>
          <p:cNvPr id="21" name="Text 19"/>
          <p:cNvSpPr/>
          <p:nvPr/>
        </p:nvSpPr>
        <p:spPr>
          <a:xfrm>
            <a:off x="9015984" y="2011680"/>
            <a:ext cx="2240280" cy="59436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6,033</a:t>
            </a:r>
            <a:endParaRPr lang="en-US" sz="2200" dirty="0"/>
          </a:p>
        </p:txBody>
      </p:sp>
      <p:sp>
        <p:nvSpPr>
          <p:cNvPr id="22" name="Text 20"/>
          <p:cNvSpPr/>
          <p:nvPr/>
        </p:nvSpPr>
        <p:spPr>
          <a:xfrm>
            <a:off x="9015984" y="2606040"/>
            <a:ext cx="2240280" cy="274320"/>
          </a:xfrm>
          <a:prstGeom prst="rect">
            <a:avLst/>
          </a:prstGeom>
          <a:noFill/>
          <a:ln/>
        </p:spPr>
        <p:txBody>
          <a:bodyPr wrap="square" rtlCol="0" anchor="ctr"/>
          <a:lstStyle/>
          <a:p>
            <a:pPr marL="0" indent="0">
              <a:buNone/>
            </a:pPr>
            <a:r>
              <a:rPr lang="en-US" sz="1200" b="1" dirty="0">
                <a:solidFill>
                  <a:srgbClr val="E15554"/>
                </a:solidFill>
                <a:latin typeface="Calibri" pitchFamily="34" charset="0"/>
                <a:ea typeface="Calibri" pitchFamily="34" charset="-122"/>
                <a:cs typeface="Calibri" pitchFamily="34" charset="-120"/>
              </a:rPr>
              <a:t>Units Sold</a:t>
            </a:r>
            <a:endParaRPr lang="en-US" sz="1200" dirty="0"/>
          </a:p>
        </p:txBody>
      </p:sp>
      <p:sp>
        <p:nvSpPr>
          <p:cNvPr id="23" name="Text 21"/>
          <p:cNvSpPr/>
          <p:nvPr/>
        </p:nvSpPr>
        <p:spPr>
          <a:xfrm>
            <a:off x="9015984" y="2880360"/>
            <a:ext cx="2286000" cy="502920"/>
          </a:xfrm>
          <a:prstGeom prst="rect">
            <a:avLst/>
          </a:prstGeom>
          <a:noFill/>
          <a:ln/>
        </p:spPr>
        <p:txBody>
          <a:bodyPr wrap="square" rtlCol="0" anchor="ctr"/>
          <a:lstStyle/>
          <a:p>
            <a:pPr marL="0" indent="0">
              <a:buNone/>
            </a:pPr>
            <a:r>
              <a:rPr lang="en-US" sz="950" dirty="0">
                <a:solidFill>
                  <a:srgbClr val="AEB6D6"/>
                </a:solidFill>
                <a:latin typeface="Calibri" pitchFamily="34" charset="0"/>
                <a:ea typeface="Calibri" pitchFamily="34" charset="-122"/>
                <a:cs typeface="Calibri" pitchFamily="34" charset="-120"/>
              </a:rPr>
              <a:t>Total quantity moved, 2011–2014</a:t>
            </a:r>
            <a:endParaRPr lang="en-US" sz="950" dirty="0"/>
          </a:p>
        </p:txBody>
      </p:sp>
      <p:sp>
        <p:nvSpPr>
          <p:cNvPr id="24" name="Text 22"/>
          <p:cNvSpPr/>
          <p:nvPr/>
        </p:nvSpPr>
        <p:spPr>
          <a:xfrm>
            <a:off x="548640" y="3749040"/>
            <a:ext cx="10515600" cy="548640"/>
          </a:xfrm>
          <a:prstGeom prst="rect">
            <a:avLst/>
          </a:prstGeom>
          <a:noFill/>
          <a:ln/>
        </p:spPr>
        <p:txBody>
          <a:bodyPr wrap="square" rtlCol="0" anchor="ctr"/>
          <a:lstStyle/>
          <a:p>
            <a:pPr marL="0" indent="0">
              <a:buNone/>
            </a:pPr>
            <a:r>
              <a:rPr lang="en-US" sz="1250" i="1" dirty="0">
                <a:solidFill>
                  <a:srgbClr val="6B7280"/>
                </a:solidFill>
                <a:latin typeface="Calibri" pitchFamily="34" charset="0"/>
                <a:ea typeface="Calibri" pitchFamily="34" charset="-122"/>
                <a:cs typeface="Calibri" pitchFamily="34" charset="-120"/>
              </a:rPr>
              <a:t>Overall gross margin (Profit / Revenue) runs at approximately 97.6%, reflecting low reported cost of sales relative to price in the source data worth validating with Finance before external use.</a:t>
            </a:r>
            <a:endParaRPr lang="en-US" sz="1250" dirty="0"/>
          </a:p>
        </p:txBody>
      </p:sp>
      <p:sp>
        <p:nvSpPr>
          <p:cNvPr id="25" name="Text 23"/>
          <p:cNvSpPr/>
          <p:nvPr/>
        </p:nvSpPr>
        <p:spPr>
          <a:xfrm>
            <a:off x="548640" y="4434840"/>
            <a:ext cx="4572000" cy="320040"/>
          </a:xfrm>
          <a:prstGeom prst="rect">
            <a:avLst/>
          </a:prstGeom>
          <a:noFill/>
          <a:ln/>
        </p:spPr>
        <p:txBody>
          <a:bodyPr wrap="square"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Revenue by year (₦M)</a:t>
            </a:r>
            <a:endParaRPr lang="en-US" sz="1300" dirty="0"/>
          </a:p>
        </p:txBody>
      </p:sp>
      <p:graphicFrame>
        <p:nvGraphicFramePr>
          <p:cNvPr id="26" name="Chart 0"/>
          <p:cNvGraphicFramePr/>
          <p:nvPr/>
        </p:nvGraphicFramePr>
        <p:xfrm>
          <a:off x="457200" y="4709160"/>
          <a:ext cx="5120640" cy="1874520"/>
        </p:xfrm>
        <a:graphic>
          <a:graphicData uri="http://schemas.openxmlformats.org/drawingml/2006/chart">
            <c:chart xmlns:c="http://schemas.openxmlformats.org/drawingml/2006/chart" xmlns:r="http://schemas.openxmlformats.org/officeDocument/2006/relationships" r:id="rId3"/>
          </a:graphicData>
        </a:graphic>
      </p:graphicFrame>
      <p:sp>
        <p:nvSpPr>
          <p:cNvPr id="27" name="Text 24"/>
          <p:cNvSpPr/>
          <p:nvPr/>
        </p:nvSpPr>
        <p:spPr>
          <a:xfrm>
            <a:off x="6035040" y="4434840"/>
            <a:ext cx="4572000" cy="320040"/>
          </a:xfrm>
          <a:prstGeom prst="rect">
            <a:avLst/>
          </a:prstGeom>
          <a:noFill/>
          <a:ln/>
        </p:spPr>
        <p:txBody>
          <a:bodyPr wrap="square"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Profit by category (₦M)</a:t>
            </a:r>
            <a:endParaRPr lang="en-US" sz="1300" dirty="0"/>
          </a:p>
        </p:txBody>
      </p:sp>
      <p:graphicFrame>
        <p:nvGraphicFramePr>
          <p:cNvPr id="28" name="Chart 1"/>
          <p:cNvGraphicFramePr/>
          <p:nvPr/>
        </p:nvGraphicFramePr>
        <p:xfrm>
          <a:off x="6172200" y="4663440"/>
          <a:ext cx="5120640" cy="1920240"/>
        </p:xfrm>
        <a:graphic>
          <a:graphicData uri="http://schemas.openxmlformats.org/drawingml/2006/chart">
            <c:chart xmlns:c="http://schemas.openxmlformats.org/drawingml/2006/chart" xmlns:r="http://schemas.openxmlformats.org/officeDocument/2006/relationships" r:id="rId4"/>
          </a:graphicData>
        </a:graphic>
      </p:graphicFrame>
      <p:sp>
        <p:nvSpPr>
          <p:cNvPr id="29" name="Text 25"/>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KEY FINDING 2 · PRODUCT PERFORMANCE</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6213E"/>
                </a:solidFill>
                <a:latin typeface="Calibri" pitchFamily="34" charset="0"/>
                <a:ea typeface="Calibri" pitchFamily="34" charset="-122"/>
                <a:cs typeface="Calibri" pitchFamily="34" charset="-120"/>
              </a:rPr>
              <a:t>Five products generate the least profit</a:t>
            </a:r>
            <a:endParaRPr lang="en-US" sz="3000" dirty="0"/>
          </a:p>
        </p:txBody>
      </p:sp>
      <p:sp>
        <p:nvSpPr>
          <p:cNvPr id="4" name="Shape 2"/>
          <p:cNvSpPr/>
          <p:nvPr/>
        </p:nvSpPr>
        <p:spPr>
          <a:xfrm>
            <a:off x="548640" y="1600200"/>
            <a:ext cx="7498080" cy="566928"/>
          </a:xfrm>
          <a:prstGeom prst="rect">
            <a:avLst/>
          </a:prstGeom>
          <a:solidFill>
            <a:srgbClr val="F6F7FA"/>
          </a:solidFill>
          <a:ln/>
        </p:spPr>
      </p:sp>
      <p:sp>
        <p:nvSpPr>
          <p:cNvPr id="5" name="Shape 3"/>
          <p:cNvSpPr/>
          <p:nvPr/>
        </p:nvSpPr>
        <p:spPr>
          <a:xfrm>
            <a:off x="685800" y="1709928"/>
            <a:ext cx="347472" cy="347472"/>
          </a:xfrm>
          <a:prstGeom prst="ellipse">
            <a:avLst/>
          </a:prstGeom>
          <a:solidFill>
            <a:srgbClr val="E15554"/>
          </a:solidFill>
          <a:ln/>
        </p:spPr>
      </p:sp>
      <p:sp>
        <p:nvSpPr>
          <p:cNvPr id="6" name="Text 4"/>
          <p:cNvSpPr/>
          <p:nvPr/>
        </p:nvSpPr>
        <p:spPr>
          <a:xfrm>
            <a:off x="685800" y="1709928"/>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188720" y="1655064"/>
            <a:ext cx="5394960" cy="457200"/>
          </a:xfrm>
          <a:prstGeom prst="rect">
            <a:avLst/>
          </a:prstGeom>
          <a:noFill/>
          <a:ln/>
        </p:spPr>
        <p:txBody>
          <a:bodyPr wrap="square" rtlCol="0" anchor="ctr"/>
          <a:lstStyle/>
          <a:p>
            <a:pPr marL="0" indent="0">
              <a:buNone/>
            </a:pPr>
            <a:r>
              <a:rPr lang="en-US" sz="1250" dirty="0">
                <a:solidFill>
                  <a:srgbClr val="16213E"/>
                </a:solidFill>
                <a:latin typeface="Calibri" pitchFamily="34" charset="0"/>
                <a:ea typeface="Calibri" pitchFamily="34" charset="-122"/>
                <a:cs typeface="Calibri" pitchFamily="34" charset="-120"/>
              </a:rPr>
              <a:t>Brother HL-L2390DW Monochrome Laser Printer</a:t>
            </a:r>
            <a:endParaRPr lang="en-US" sz="1250" dirty="0"/>
          </a:p>
        </p:txBody>
      </p:sp>
      <p:sp>
        <p:nvSpPr>
          <p:cNvPr id="8" name="Text 6"/>
          <p:cNvSpPr/>
          <p:nvPr/>
        </p:nvSpPr>
        <p:spPr>
          <a:xfrm>
            <a:off x="6583680" y="1655064"/>
            <a:ext cx="1371600" cy="457200"/>
          </a:xfrm>
          <a:prstGeom prst="rect">
            <a:avLst/>
          </a:prstGeom>
          <a:noFill/>
          <a:ln/>
        </p:spPr>
        <p:txBody>
          <a:bodyPr wrap="square" rtlCol="0" anchor="ctr"/>
          <a:lstStyle/>
          <a:p>
            <a:pPr marL="0" indent="0" algn="r">
              <a:buNone/>
            </a:pPr>
            <a:r>
              <a:rPr lang="en-US" sz="1300" b="1" dirty="0">
                <a:solidFill>
                  <a:srgbClr val="E15554"/>
                </a:solidFill>
                <a:latin typeface="Calibri" pitchFamily="34" charset="0"/>
                <a:ea typeface="Calibri" pitchFamily="34" charset="-122"/>
                <a:cs typeface="Calibri" pitchFamily="34" charset="-120"/>
              </a:rPr>
              <a:t>₦70,081</a:t>
            </a:r>
            <a:endParaRPr lang="en-US" sz="1300" dirty="0"/>
          </a:p>
        </p:txBody>
      </p:sp>
      <p:sp>
        <p:nvSpPr>
          <p:cNvPr id="9" name="Shape 7"/>
          <p:cNvSpPr/>
          <p:nvPr/>
        </p:nvSpPr>
        <p:spPr>
          <a:xfrm>
            <a:off x="548640" y="2221992"/>
            <a:ext cx="7498080" cy="566928"/>
          </a:xfrm>
          <a:prstGeom prst="rect">
            <a:avLst/>
          </a:prstGeom>
          <a:solidFill>
            <a:srgbClr val="FFFFFF"/>
          </a:solidFill>
          <a:ln/>
        </p:spPr>
      </p:sp>
      <p:sp>
        <p:nvSpPr>
          <p:cNvPr id="10" name="Shape 8"/>
          <p:cNvSpPr/>
          <p:nvPr/>
        </p:nvSpPr>
        <p:spPr>
          <a:xfrm>
            <a:off x="685800" y="2331720"/>
            <a:ext cx="347472" cy="347472"/>
          </a:xfrm>
          <a:prstGeom prst="ellipse">
            <a:avLst/>
          </a:prstGeom>
          <a:solidFill>
            <a:srgbClr val="E15554"/>
          </a:solidFill>
          <a:ln/>
        </p:spPr>
      </p:sp>
      <p:sp>
        <p:nvSpPr>
          <p:cNvPr id="11" name="Text 9"/>
          <p:cNvSpPr/>
          <p:nvPr/>
        </p:nvSpPr>
        <p:spPr>
          <a:xfrm>
            <a:off x="685800" y="2331720"/>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188720" y="2276856"/>
            <a:ext cx="5394960" cy="457200"/>
          </a:xfrm>
          <a:prstGeom prst="rect">
            <a:avLst/>
          </a:prstGeom>
          <a:noFill/>
          <a:ln/>
        </p:spPr>
        <p:txBody>
          <a:bodyPr wrap="square" rtlCol="0" anchor="ctr"/>
          <a:lstStyle/>
          <a:p>
            <a:pPr marL="0" indent="0">
              <a:buNone/>
            </a:pPr>
            <a:r>
              <a:rPr lang="en-US" sz="1250" dirty="0">
                <a:solidFill>
                  <a:srgbClr val="16213E"/>
                </a:solidFill>
                <a:latin typeface="Calibri" pitchFamily="34" charset="0"/>
                <a:ea typeface="Calibri" pitchFamily="34" charset="-122"/>
                <a:cs typeface="Calibri" pitchFamily="34" charset="-120"/>
              </a:rPr>
              <a:t>Apple iPhone 12 Pro Max, 256GB</a:t>
            </a:r>
            <a:endParaRPr lang="en-US" sz="1250" dirty="0"/>
          </a:p>
        </p:txBody>
      </p:sp>
      <p:sp>
        <p:nvSpPr>
          <p:cNvPr id="13" name="Text 11"/>
          <p:cNvSpPr/>
          <p:nvPr/>
        </p:nvSpPr>
        <p:spPr>
          <a:xfrm>
            <a:off x="6583680" y="2276856"/>
            <a:ext cx="1371600" cy="457200"/>
          </a:xfrm>
          <a:prstGeom prst="rect">
            <a:avLst/>
          </a:prstGeom>
          <a:noFill/>
          <a:ln/>
        </p:spPr>
        <p:txBody>
          <a:bodyPr wrap="square" rtlCol="0" anchor="ctr"/>
          <a:lstStyle/>
          <a:p>
            <a:pPr marL="0" indent="0" algn="r">
              <a:buNone/>
            </a:pPr>
            <a:r>
              <a:rPr lang="en-US" sz="1300" b="1" dirty="0">
                <a:solidFill>
                  <a:srgbClr val="E15554"/>
                </a:solidFill>
                <a:latin typeface="Calibri" pitchFamily="34" charset="0"/>
                <a:ea typeface="Calibri" pitchFamily="34" charset="-122"/>
                <a:cs typeface="Calibri" pitchFamily="34" charset="-120"/>
              </a:rPr>
              <a:t>₦70,217</a:t>
            </a:r>
            <a:endParaRPr lang="en-US" sz="1300" dirty="0"/>
          </a:p>
        </p:txBody>
      </p:sp>
      <p:sp>
        <p:nvSpPr>
          <p:cNvPr id="14" name="Shape 12"/>
          <p:cNvSpPr/>
          <p:nvPr/>
        </p:nvSpPr>
        <p:spPr>
          <a:xfrm>
            <a:off x="548640" y="2843784"/>
            <a:ext cx="7498080" cy="566928"/>
          </a:xfrm>
          <a:prstGeom prst="rect">
            <a:avLst/>
          </a:prstGeom>
          <a:solidFill>
            <a:srgbClr val="F6F7FA"/>
          </a:solidFill>
          <a:ln/>
        </p:spPr>
      </p:sp>
      <p:sp>
        <p:nvSpPr>
          <p:cNvPr id="15" name="Shape 13"/>
          <p:cNvSpPr/>
          <p:nvPr/>
        </p:nvSpPr>
        <p:spPr>
          <a:xfrm>
            <a:off x="685800" y="2953512"/>
            <a:ext cx="347472" cy="347472"/>
          </a:xfrm>
          <a:prstGeom prst="ellipse">
            <a:avLst/>
          </a:prstGeom>
          <a:solidFill>
            <a:srgbClr val="E15554"/>
          </a:solidFill>
          <a:ln/>
        </p:spPr>
      </p:sp>
      <p:sp>
        <p:nvSpPr>
          <p:cNvPr id="16" name="Text 14"/>
          <p:cNvSpPr/>
          <p:nvPr/>
        </p:nvSpPr>
        <p:spPr>
          <a:xfrm>
            <a:off x="685800" y="2953512"/>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188720" y="2898648"/>
            <a:ext cx="5394960" cy="457200"/>
          </a:xfrm>
          <a:prstGeom prst="rect">
            <a:avLst/>
          </a:prstGeom>
          <a:noFill/>
          <a:ln/>
        </p:spPr>
        <p:txBody>
          <a:bodyPr wrap="square" rtlCol="0" anchor="ctr"/>
          <a:lstStyle/>
          <a:p>
            <a:pPr marL="0" indent="0">
              <a:buNone/>
            </a:pPr>
            <a:r>
              <a:rPr lang="en-US" sz="1250" dirty="0">
                <a:solidFill>
                  <a:srgbClr val="16213E"/>
                </a:solidFill>
                <a:latin typeface="Calibri" pitchFamily="34" charset="0"/>
                <a:ea typeface="Calibri" pitchFamily="34" charset="-122"/>
                <a:cs typeface="Calibri" pitchFamily="34" charset="-120"/>
              </a:rPr>
              <a:t>Plantronics CS510 Wireless Headset System</a:t>
            </a:r>
            <a:endParaRPr lang="en-US" sz="1250" dirty="0"/>
          </a:p>
        </p:txBody>
      </p:sp>
      <p:sp>
        <p:nvSpPr>
          <p:cNvPr id="18" name="Text 16"/>
          <p:cNvSpPr/>
          <p:nvPr/>
        </p:nvSpPr>
        <p:spPr>
          <a:xfrm>
            <a:off x="6583680" y="2898648"/>
            <a:ext cx="1371600" cy="457200"/>
          </a:xfrm>
          <a:prstGeom prst="rect">
            <a:avLst/>
          </a:prstGeom>
          <a:noFill/>
          <a:ln/>
        </p:spPr>
        <p:txBody>
          <a:bodyPr wrap="square" rtlCol="0" anchor="ctr"/>
          <a:lstStyle/>
          <a:p>
            <a:pPr marL="0" indent="0" algn="r">
              <a:buNone/>
            </a:pPr>
            <a:r>
              <a:rPr lang="en-US" sz="1300" b="1" dirty="0">
                <a:solidFill>
                  <a:srgbClr val="E15554"/>
                </a:solidFill>
                <a:latin typeface="Calibri" pitchFamily="34" charset="0"/>
                <a:ea typeface="Calibri" pitchFamily="34" charset="-122"/>
                <a:cs typeface="Calibri" pitchFamily="34" charset="-120"/>
              </a:rPr>
              <a:t>₦76,736</a:t>
            </a:r>
            <a:endParaRPr lang="en-US" sz="1300" dirty="0"/>
          </a:p>
        </p:txBody>
      </p:sp>
      <p:sp>
        <p:nvSpPr>
          <p:cNvPr id="19" name="Shape 17"/>
          <p:cNvSpPr/>
          <p:nvPr/>
        </p:nvSpPr>
        <p:spPr>
          <a:xfrm>
            <a:off x="548640" y="3465576"/>
            <a:ext cx="7498080" cy="566928"/>
          </a:xfrm>
          <a:prstGeom prst="rect">
            <a:avLst/>
          </a:prstGeom>
          <a:solidFill>
            <a:srgbClr val="FFFFFF"/>
          </a:solidFill>
          <a:ln/>
        </p:spPr>
      </p:sp>
      <p:sp>
        <p:nvSpPr>
          <p:cNvPr id="20" name="Shape 18"/>
          <p:cNvSpPr/>
          <p:nvPr/>
        </p:nvSpPr>
        <p:spPr>
          <a:xfrm>
            <a:off x="685800" y="3575304"/>
            <a:ext cx="347472" cy="347472"/>
          </a:xfrm>
          <a:prstGeom prst="ellipse">
            <a:avLst/>
          </a:prstGeom>
          <a:solidFill>
            <a:srgbClr val="E15554"/>
          </a:solidFill>
          <a:ln/>
        </p:spPr>
      </p:sp>
      <p:sp>
        <p:nvSpPr>
          <p:cNvPr id="21" name="Text 19"/>
          <p:cNvSpPr/>
          <p:nvPr/>
        </p:nvSpPr>
        <p:spPr>
          <a:xfrm>
            <a:off x="685800" y="3575304"/>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188720" y="3520440"/>
            <a:ext cx="5394960" cy="457200"/>
          </a:xfrm>
          <a:prstGeom prst="rect">
            <a:avLst/>
          </a:prstGeom>
          <a:noFill/>
          <a:ln/>
        </p:spPr>
        <p:txBody>
          <a:bodyPr wrap="square" rtlCol="0" anchor="ctr"/>
          <a:lstStyle/>
          <a:p>
            <a:pPr marL="0" indent="0">
              <a:buNone/>
            </a:pPr>
            <a:r>
              <a:rPr lang="en-US" sz="1250" dirty="0">
                <a:solidFill>
                  <a:srgbClr val="16213E"/>
                </a:solidFill>
                <a:latin typeface="Calibri" pitchFamily="34" charset="0"/>
                <a:ea typeface="Calibri" pitchFamily="34" charset="-122"/>
                <a:cs typeface="Calibri" pitchFamily="34" charset="-120"/>
              </a:rPr>
              <a:t>Humanscale Freedom Office Desk Chair</a:t>
            </a:r>
            <a:endParaRPr lang="en-US" sz="1250" dirty="0"/>
          </a:p>
        </p:txBody>
      </p:sp>
      <p:sp>
        <p:nvSpPr>
          <p:cNvPr id="23" name="Text 21"/>
          <p:cNvSpPr/>
          <p:nvPr/>
        </p:nvSpPr>
        <p:spPr>
          <a:xfrm>
            <a:off x="6583680" y="3520440"/>
            <a:ext cx="1371600" cy="457200"/>
          </a:xfrm>
          <a:prstGeom prst="rect">
            <a:avLst/>
          </a:prstGeom>
          <a:noFill/>
          <a:ln/>
        </p:spPr>
        <p:txBody>
          <a:bodyPr wrap="square" rtlCol="0" anchor="ctr"/>
          <a:lstStyle/>
          <a:p>
            <a:pPr marL="0" indent="0" algn="r">
              <a:buNone/>
            </a:pPr>
            <a:r>
              <a:rPr lang="en-US" sz="1300" b="1" dirty="0">
                <a:solidFill>
                  <a:srgbClr val="E15554"/>
                </a:solidFill>
                <a:latin typeface="Calibri" pitchFamily="34" charset="0"/>
                <a:ea typeface="Calibri" pitchFamily="34" charset="-122"/>
                <a:cs typeface="Calibri" pitchFamily="34" charset="-120"/>
              </a:rPr>
              <a:t>₦78,732</a:t>
            </a:r>
            <a:endParaRPr lang="en-US" sz="1300" dirty="0"/>
          </a:p>
        </p:txBody>
      </p:sp>
      <p:sp>
        <p:nvSpPr>
          <p:cNvPr id="24" name="Shape 22"/>
          <p:cNvSpPr/>
          <p:nvPr/>
        </p:nvSpPr>
        <p:spPr>
          <a:xfrm>
            <a:off x="548640" y="4087368"/>
            <a:ext cx="7498080" cy="566928"/>
          </a:xfrm>
          <a:prstGeom prst="rect">
            <a:avLst/>
          </a:prstGeom>
          <a:solidFill>
            <a:srgbClr val="F6F7FA"/>
          </a:solidFill>
          <a:ln/>
        </p:spPr>
      </p:sp>
      <p:sp>
        <p:nvSpPr>
          <p:cNvPr id="25" name="Shape 23"/>
          <p:cNvSpPr/>
          <p:nvPr/>
        </p:nvSpPr>
        <p:spPr>
          <a:xfrm>
            <a:off x="685800" y="4197096"/>
            <a:ext cx="347472" cy="347472"/>
          </a:xfrm>
          <a:prstGeom prst="ellipse">
            <a:avLst/>
          </a:prstGeom>
          <a:solidFill>
            <a:srgbClr val="E15554"/>
          </a:solidFill>
          <a:ln/>
        </p:spPr>
      </p:sp>
      <p:sp>
        <p:nvSpPr>
          <p:cNvPr id="26" name="Text 24"/>
          <p:cNvSpPr/>
          <p:nvPr/>
        </p:nvSpPr>
        <p:spPr>
          <a:xfrm>
            <a:off x="685800" y="4197096"/>
            <a:ext cx="347472" cy="347472"/>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188720" y="4142232"/>
            <a:ext cx="5394960" cy="457200"/>
          </a:xfrm>
          <a:prstGeom prst="rect">
            <a:avLst/>
          </a:prstGeom>
          <a:noFill/>
          <a:ln/>
        </p:spPr>
        <p:txBody>
          <a:bodyPr wrap="square" rtlCol="0" anchor="ctr"/>
          <a:lstStyle/>
          <a:p>
            <a:pPr marL="0" indent="0">
              <a:buNone/>
            </a:pPr>
            <a:r>
              <a:rPr lang="en-US" sz="1250" dirty="0">
                <a:solidFill>
                  <a:srgbClr val="16213E"/>
                </a:solidFill>
                <a:latin typeface="Calibri" pitchFamily="34" charset="0"/>
                <a:ea typeface="Calibri" pitchFamily="34" charset="-122"/>
                <a:cs typeface="Calibri" pitchFamily="34" charset="-120"/>
              </a:rPr>
              <a:t>HP LaserJet Pro MFP M428fdw Printer</a:t>
            </a:r>
            <a:endParaRPr lang="en-US" sz="1250" dirty="0"/>
          </a:p>
        </p:txBody>
      </p:sp>
      <p:sp>
        <p:nvSpPr>
          <p:cNvPr id="28" name="Text 26"/>
          <p:cNvSpPr/>
          <p:nvPr/>
        </p:nvSpPr>
        <p:spPr>
          <a:xfrm>
            <a:off x="6583680" y="4142232"/>
            <a:ext cx="1371600" cy="457200"/>
          </a:xfrm>
          <a:prstGeom prst="rect">
            <a:avLst/>
          </a:prstGeom>
          <a:noFill/>
          <a:ln/>
        </p:spPr>
        <p:txBody>
          <a:bodyPr wrap="square" rtlCol="0" anchor="ctr"/>
          <a:lstStyle/>
          <a:p>
            <a:pPr marL="0" indent="0" algn="r">
              <a:buNone/>
            </a:pPr>
            <a:r>
              <a:rPr lang="en-US" sz="1300" b="1" dirty="0">
                <a:solidFill>
                  <a:srgbClr val="E15554"/>
                </a:solidFill>
                <a:latin typeface="Calibri" pitchFamily="34" charset="0"/>
                <a:ea typeface="Calibri" pitchFamily="34" charset="-122"/>
                <a:cs typeface="Calibri" pitchFamily="34" charset="-120"/>
              </a:rPr>
              <a:t>₦83,711</a:t>
            </a:r>
            <a:endParaRPr lang="en-US" sz="1300" dirty="0"/>
          </a:p>
        </p:txBody>
      </p:sp>
      <p:sp>
        <p:nvSpPr>
          <p:cNvPr id="29" name="Shape 27"/>
          <p:cNvSpPr/>
          <p:nvPr/>
        </p:nvSpPr>
        <p:spPr>
          <a:xfrm>
            <a:off x="8366760" y="1600200"/>
            <a:ext cx="3246120" cy="3154680"/>
          </a:xfrm>
          <a:prstGeom prst="rect">
            <a:avLst/>
          </a:prstGeom>
          <a:solidFill>
            <a:srgbClr val="16213E"/>
          </a:solidFill>
          <a:ln/>
        </p:spPr>
      </p:sp>
      <p:sp>
        <p:nvSpPr>
          <p:cNvPr id="30" name="Text 28"/>
          <p:cNvSpPr/>
          <p:nvPr/>
        </p:nvSpPr>
        <p:spPr>
          <a:xfrm>
            <a:off x="8641080" y="1828800"/>
            <a:ext cx="2743200" cy="274320"/>
          </a:xfrm>
          <a:prstGeom prst="rect">
            <a:avLst/>
          </a:prstGeom>
          <a:noFill/>
          <a:ln/>
        </p:spPr>
        <p:txBody>
          <a:bodyPr wrap="square" rtlCol="0" anchor="ctr"/>
          <a:lstStyle/>
          <a:p>
            <a:pPr marL="0" indent="0">
              <a:buNone/>
            </a:pPr>
            <a:r>
              <a:rPr lang="en-US" sz="1100" b="1" kern="0" spc="100" dirty="0">
                <a:solidFill>
                  <a:srgbClr val="FF6B35"/>
                </a:solidFill>
                <a:latin typeface="Calibri" pitchFamily="34" charset="0"/>
                <a:ea typeface="Calibri" pitchFamily="34" charset="-122"/>
                <a:cs typeface="Calibri" pitchFamily="34" charset="-120"/>
              </a:rPr>
              <a:t>WHY IT MATTERS</a:t>
            </a:r>
            <a:endParaRPr lang="en-US" sz="1100" dirty="0"/>
          </a:p>
        </p:txBody>
      </p:sp>
      <p:sp>
        <p:nvSpPr>
          <p:cNvPr id="31" name="Text 29"/>
          <p:cNvSpPr/>
          <p:nvPr/>
        </p:nvSpPr>
        <p:spPr>
          <a:xfrm>
            <a:off x="8641080" y="2148840"/>
            <a:ext cx="2743200" cy="2377440"/>
          </a:xfrm>
          <a:prstGeom prst="rect">
            <a:avLst/>
          </a:prstGeom>
          <a:noFill/>
          <a:ln/>
        </p:spPr>
        <p:txBody>
          <a:bodyPr wrap="square" rtlCol="0" anchor="ctr"/>
          <a:lstStyle/>
          <a:p>
            <a:pPr marL="0" indent="0">
              <a:lnSpc>
                <a:spcPts val="1800"/>
              </a:lnSpc>
              <a:buNone/>
            </a:pPr>
            <a:r>
              <a:rPr lang="en-US" sz="1150" dirty="0">
                <a:solidFill>
                  <a:srgbClr val="D6DAF0"/>
                </a:solidFill>
                <a:latin typeface="Calibri" pitchFamily="34" charset="0"/>
                <a:ea typeface="Calibri" pitchFamily="34" charset="-122"/>
                <a:cs typeface="Calibri" pitchFamily="34" charset="-120"/>
              </a:rPr>
              <a:t>These five SKUs sit well below the average product profit of ≈₦257K. Two are premium electronics (iPhone, laser printers) with thin margins after cost of sales; two are furniture and accessory lines likely facing heavier discounting or higher unit costs.</a:t>
            </a:r>
            <a:endParaRPr lang="en-US" sz="1150" dirty="0"/>
          </a:p>
        </p:txBody>
      </p:sp>
      <p:sp>
        <p:nvSpPr>
          <p:cNvPr id="32" name="Text 30"/>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KEY FINDING 3 · REGIONAL PERFORMANCE</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6213E"/>
                </a:solidFill>
                <a:latin typeface="Calibri" pitchFamily="34" charset="0"/>
                <a:ea typeface="Calibri" pitchFamily="34" charset="-122"/>
                <a:cs typeface="Calibri" pitchFamily="34" charset="-120"/>
              </a:rPr>
              <a:t>Regional managers: profit generated on their watch</a:t>
            </a:r>
            <a:endParaRPr lang="en-US" sz="3000" dirty="0"/>
          </a:p>
        </p:txBody>
      </p:sp>
      <p:graphicFrame>
        <p:nvGraphicFramePr>
          <p:cNvPr id="4" name="Chart 0"/>
          <p:cNvGraphicFramePr/>
          <p:nvPr/>
        </p:nvGraphicFramePr>
        <p:xfrm>
          <a:off x="457200" y="1508760"/>
          <a:ext cx="112471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457200" y="5989320"/>
            <a:ext cx="11247120" cy="502920"/>
          </a:xfrm>
          <a:prstGeom prst="rect">
            <a:avLst/>
          </a:prstGeom>
          <a:solidFill>
            <a:srgbClr val="F6F7FA"/>
          </a:solidFill>
          <a:ln/>
        </p:spPr>
      </p:sp>
      <p:sp>
        <p:nvSpPr>
          <p:cNvPr id="6" name="Text 3"/>
          <p:cNvSpPr/>
          <p:nvPr/>
        </p:nvSpPr>
        <p:spPr>
          <a:xfrm>
            <a:off x="685800" y="5989320"/>
            <a:ext cx="10789920" cy="50292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Zainab Abubakar (North West) leads at ₦2.72M; Emmanuel Okafor (South East) trails at ₦1.71M , a ₦1.01M gap between the top and bottom performing regions.</a:t>
            </a:r>
            <a:endParaRPr lang="en-US" sz="1200" dirty="0"/>
          </a:p>
        </p:txBody>
      </p:sp>
      <p:sp>
        <p:nvSpPr>
          <p:cNvPr id="7" name="Text 4"/>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KEY FINDING 4 · PRODUCT MIX &amp; PRIORITY</a:t>
            </a:r>
            <a:endParaRPr lang="en-US" sz="1300" dirty="0"/>
          </a:p>
        </p:txBody>
      </p:sp>
      <p:sp>
        <p:nvSpPr>
          <p:cNvPr id="3" name="Text 1"/>
          <p:cNvSpPr/>
          <p:nvPr/>
        </p:nvSpPr>
        <p:spPr>
          <a:xfrm>
            <a:off x="548640" y="713232"/>
            <a:ext cx="10515600" cy="640080"/>
          </a:xfrm>
          <a:prstGeom prst="rect">
            <a:avLst/>
          </a:prstGeom>
          <a:noFill/>
          <a:ln/>
        </p:spPr>
        <p:txBody>
          <a:bodyPr wrap="square" rtlCol="0" anchor="ctr"/>
          <a:lstStyle/>
          <a:p>
            <a:pPr marL="0" indent="0">
              <a:buNone/>
            </a:pPr>
            <a:r>
              <a:rPr lang="en-US" sz="2500" b="1" dirty="0">
                <a:solidFill>
                  <a:srgbClr val="16213E"/>
                </a:solidFill>
                <a:latin typeface="Calibri" pitchFamily="34" charset="0"/>
                <a:ea typeface="Calibri" pitchFamily="34" charset="-122"/>
                <a:cs typeface="Calibri" pitchFamily="34" charset="-120"/>
              </a:rPr>
              <a:t>Phones lead sub-categories; Medium priority wins on profit</a:t>
            </a:r>
            <a:endParaRPr lang="en-US" sz="2500" dirty="0"/>
          </a:p>
        </p:txBody>
      </p:sp>
      <p:sp>
        <p:nvSpPr>
          <p:cNvPr id="4" name="Text 2"/>
          <p:cNvSpPr/>
          <p:nvPr/>
        </p:nvSpPr>
        <p:spPr>
          <a:xfrm>
            <a:off x="548640" y="1554480"/>
            <a:ext cx="5486400" cy="320040"/>
          </a:xfrm>
          <a:prstGeom prst="rect">
            <a:avLst/>
          </a:prstGeom>
          <a:noFill/>
          <a:ln/>
        </p:spPr>
        <p:txBody>
          <a:bodyPr wrap="square"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Profit by sub-category (₦M)</a:t>
            </a:r>
            <a:endParaRPr lang="en-US" sz="1300" dirty="0"/>
          </a:p>
        </p:txBody>
      </p:sp>
      <p:graphicFrame>
        <p:nvGraphicFramePr>
          <p:cNvPr id="5" name="Chart 0"/>
          <p:cNvGraphicFramePr/>
          <p:nvPr/>
        </p:nvGraphicFramePr>
        <p:xfrm>
          <a:off x="365760" y="1874520"/>
          <a:ext cx="566928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309360" y="1554480"/>
            <a:ext cx="5486400" cy="320040"/>
          </a:xfrm>
          <a:prstGeom prst="rect">
            <a:avLst/>
          </a:prstGeom>
          <a:noFill/>
          <a:ln/>
        </p:spPr>
        <p:txBody>
          <a:bodyPr wrap="square"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Profit by order priority (₦M)</a:t>
            </a:r>
            <a:endParaRPr lang="en-US" sz="1300" dirty="0"/>
          </a:p>
        </p:txBody>
      </p:sp>
      <p:graphicFrame>
        <p:nvGraphicFramePr>
          <p:cNvPr id="7" name="Chart 1"/>
          <p:cNvGraphicFramePr/>
          <p:nvPr/>
        </p:nvGraphicFramePr>
        <p:xfrm>
          <a:off x="6126480" y="1874520"/>
          <a:ext cx="5669280" cy="411480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457200" y="6080760"/>
            <a:ext cx="11247120" cy="502920"/>
          </a:xfrm>
          <a:prstGeom prst="rect">
            <a:avLst/>
          </a:prstGeom>
          <a:solidFill>
            <a:srgbClr val="F6F7FA"/>
          </a:solidFill>
          <a:ln/>
        </p:spPr>
      </p:sp>
      <p:sp>
        <p:nvSpPr>
          <p:cNvPr id="9" name="Text 5"/>
          <p:cNvSpPr/>
          <p:nvPr/>
        </p:nvSpPr>
        <p:spPr>
          <a:xfrm>
            <a:off x="685800" y="6080760"/>
            <a:ext cx="10789920" cy="502920"/>
          </a:xfrm>
          <a:prstGeom prst="rect">
            <a:avLst/>
          </a:prstGeom>
          <a:noFill/>
          <a:ln/>
        </p:spPr>
        <p:txBody>
          <a:bodyPr wrap="square" rtlCol="0" anchor="ctr"/>
          <a:lstStyle/>
          <a:p>
            <a:pPr marL="0" indent="0">
              <a:buNone/>
            </a:pPr>
            <a:r>
              <a:rPr lang="en-US" sz="1150" dirty="0">
                <a:solidFill>
                  <a:srgbClr val="16213E"/>
                </a:solidFill>
                <a:latin typeface="Calibri" pitchFamily="34" charset="0"/>
                <a:ea typeface="Calibri" pitchFamily="34" charset="-122"/>
                <a:cs typeface="Calibri" pitchFamily="34" charset="-120"/>
              </a:rPr>
              <a:t>Phones (₦5.35M) and Chairs (₦3.34M) together deliver 63% of profit from just 5 sub-categories. Medium-priority orders (₦5.66M) edge out High-priority (₦5.55M); Low-priority orders contribute only ₦0.59M.</a:t>
            </a:r>
            <a:endParaRPr lang="en-US" sz="1150" dirty="0"/>
          </a:p>
        </p:txBody>
      </p:sp>
      <p:sp>
        <p:nvSpPr>
          <p:cNvPr id="10" name="Text 6"/>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KEY FINDING 5 · GEOGRAPHIC PERFORMANCE</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6213E"/>
                </a:solidFill>
                <a:latin typeface="Calibri" pitchFamily="34" charset="0"/>
                <a:ea typeface="Calibri" pitchFamily="34" charset="-122"/>
                <a:cs typeface="Calibri" pitchFamily="34" charset="-120"/>
              </a:rPr>
              <a:t>Top vs. bottom states, and 2013's standout month</a:t>
            </a:r>
            <a:endParaRPr lang="en-US" sz="3000" dirty="0"/>
          </a:p>
        </p:txBody>
      </p:sp>
      <p:sp>
        <p:nvSpPr>
          <p:cNvPr id="4" name="Text 2"/>
          <p:cNvSpPr/>
          <p:nvPr/>
        </p:nvSpPr>
        <p:spPr>
          <a:xfrm>
            <a:off x="548640" y="1463040"/>
            <a:ext cx="5029200" cy="274320"/>
          </a:xfrm>
          <a:prstGeom prst="rect">
            <a:avLst/>
          </a:prstGeom>
          <a:noFill/>
          <a:ln/>
        </p:spPr>
        <p:txBody>
          <a:bodyPr wrap="square" rtlCol="0" anchor="ctr"/>
          <a:lstStyle/>
          <a:p>
            <a:pPr marL="0" indent="0">
              <a:buNone/>
            </a:pPr>
            <a:r>
              <a:rPr lang="en-US" sz="1250" b="1" dirty="0">
                <a:solidFill>
                  <a:srgbClr val="2EC4B6"/>
                </a:solidFill>
                <a:latin typeface="Calibri" pitchFamily="34" charset="0"/>
                <a:ea typeface="Calibri" pitchFamily="34" charset="-122"/>
                <a:cs typeface="Calibri" pitchFamily="34" charset="-120"/>
              </a:rPr>
              <a:t>Top 5 states by profit (₦)</a:t>
            </a:r>
            <a:endParaRPr lang="en-US" sz="1250" dirty="0"/>
          </a:p>
        </p:txBody>
      </p:sp>
      <p:sp>
        <p:nvSpPr>
          <p:cNvPr id="5" name="Text 3"/>
          <p:cNvSpPr/>
          <p:nvPr/>
        </p:nvSpPr>
        <p:spPr>
          <a:xfrm>
            <a:off x="548640" y="178308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Yobe</a:t>
            </a:r>
            <a:endParaRPr lang="en-US" sz="1200" dirty="0"/>
          </a:p>
        </p:txBody>
      </p:sp>
      <p:sp>
        <p:nvSpPr>
          <p:cNvPr id="6" name="Shape 4"/>
          <p:cNvSpPr/>
          <p:nvPr/>
        </p:nvSpPr>
        <p:spPr>
          <a:xfrm>
            <a:off x="2651760" y="1837944"/>
            <a:ext cx="2468880" cy="256032"/>
          </a:xfrm>
          <a:prstGeom prst="rect">
            <a:avLst/>
          </a:prstGeom>
          <a:solidFill>
            <a:srgbClr val="2EC4B6"/>
          </a:solidFill>
          <a:ln/>
        </p:spPr>
      </p:sp>
      <p:sp>
        <p:nvSpPr>
          <p:cNvPr id="7" name="Text 5"/>
          <p:cNvSpPr/>
          <p:nvPr/>
        </p:nvSpPr>
        <p:spPr>
          <a:xfrm>
            <a:off x="5212080" y="178308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₦538,482</a:t>
            </a:r>
            <a:endParaRPr lang="en-US" sz="1100" dirty="0"/>
          </a:p>
        </p:txBody>
      </p:sp>
      <p:sp>
        <p:nvSpPr>
          <p:cNvPr id="8" name="Text 6"/>
          <p:cNvSpPr/>
          <p:nvPr/>
        </p:nvSpPr>
        <p:spPr>
          <a:xfrm>
            <a:off x="548640" y="224028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Katsina</a:t>
            </a:r>
            <a:endParaRPr lang="en-US" sz="1200" dirty="0"/>
          </a:p>
        </p:txBody>
      </p:sp>
      <p:sp>
        <p:nvSpPr>
          <p:cNvPr id="9" name="Shape 7"/>
          <p:cNvSpPr/>
          <p:nvPr/>
        </p:nvSpPr>
        <p:spPr>
          <a:xfrm>
            <a:off x="2651760" y="2295144"/>
            <a:ext cx="2431156" cy="256032"/>
          </a:xfrm>
          <a:prstGeom prst="rect">
            <a:avLst/>
          </a:prstGeom>
          <a:solidFill>
            <a:srgbClr val="2EC4B6"/>
          </a:solidFill>
          <a:ln/>
        </p:spPr>
      </p:sp>
      <p:sp>
        <p:nvSpPr>
          <p:cNvPr id="10" name="Text 8"/>
          <p:cNvSpPr/>
          <p:nvPr/>
        </p:nvSpPr>
        <p:spPr>
          <a:xfrm>
            <a:off x="5212080" y="224028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₦530,254</a:t>
            </a:r>
            <a:endParaRPr lang="en-US" sz="1100" dirty="0"/>
          </a:p>
        </p:txBody>
      </p:sp>
      <p:sp>
        <p:nvSpPr>
          <p:cNvPr id="11" name="Text 9"/>
          <p:cNvSpPr/>
          <p:nvPr/>
        </p:nvSpPr>
        <p:spPr>
          <a:xfrm>
            <a:off x="548640" y="269748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Ogun</a:t>
            </a:r>
            <a:endParaRPr lang="en-US" sz="1200" dirty="0"/>
          </a:p>
        </p:txBody>
      </p:sp>
      <p:sp>
        <p:nvSpPr>
          <p:cNvPr id="12" name="Shape 10"/>
          <p:cNvSpPr/>
          <p:nvPr/>
        </p:nvSpPr>
        <p:spPr>
          <a:xfrm>
            <a:off x="2651760" y="2752344"/>
            <a:ext cx="2312723" cy="256032"/>
          </a:xfrm>
          <a:prstGeom prst="rect">
            <a:avLst/>
          </a:prstGeom>
          <a:solidFill>
            <a:srgbClr val="2EC4B6"/>
          </a:solidFill>
          <a:ln/>
        </p:spPr>
      </p:sp>
      <p:sp>
        <p:nvSpPr>
          <p:cNvPr id="13" name="Text 11"/>
          <p:cNvSpPr/>
          <p:nvPr/>
        </p:nvSpPr>
        <p:spPr>
          <a:xfrm>
            <a:off x="5212080" y="269748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₦504,423</a:t>
            </a:r>
            <a:endParaRPr lang="en-US" sz="1100" dirty="0"/>
          </a:p>
        </p:txBody>
      </p:sp>
      <p:sp>
        <p:nvSpPr>
          <p:cNvPr id="14" name="Text 12"/>
          <p:cNvSpPr/>
          <p:nvPr/>
        </p:nvSpPr>
        <p:spPr>
          <a:xfrm>
            <a:off x="548640" y="315468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Sokoto</a:t>
            </a:r>
            <a:endParaRPr lang="en-US" sz="1200" dirty="0"/>
          </a:p>
        </p:txBody>
      </p:sp>
      <p:sp>
        <p:nvSpPr>
          <p:cNvPr id="15" name="Shape 13"/>
          <p:cNvSpPr/>
          <p:nvPr/>
        </p:nvSpPr>
        <p:spPr>
          <a:xfrm>
            <a:off x="2651760" y="3209544"/>
            <a:ext cx="2231516" cy="256032"/>
          </a:xfrm>
          <a:prstGeom prst="rect">
            <a:avLst/>
          </a:prstGeom>
          <a:solidFill>
            <a:srgbClr val="2EC4B6"/>
          </a:solidFill>
          <a:ln/>
        </p:spPr>
      </p:sp>
      <p:sp>
        <p:nvSpPr>
          <p:cNvPr id="16" name="Text 14"/>
          <p:cNvSpPr/>
          <p:nvPr/>
        </p:nvSpPr>
        <p:spPr>
          <a:xfrm>
            <a:off x="5212080" y="315468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₦486,711</a:t>
            </a:r>
            <a:endParaRPr lang="en-US" sz="1100" dirty="0"/>
          </a:p>
        </p:txBody>
      </p:sp>
      <p:sp>
        <p:nvSpPr>
          <p:cNvPr id="17" name="Text 15"/>
          <p:cNvSpPr/>
          <p:nvPr/>
        </p:nvSpPr>
        <p:spPr>
          <a:xfrm>
            <a:off x="548640" y="361188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Rivers</a:t>
            </a:r>
            <a:endParaRPr lang="en-US" sz="1200" dirty="0"/>
          </a:p>
        </p:txBody>
      </p:sp>
      <p:sp>
        <p:nvSpPr>
          <p:cNvPr id="18" name="Shape 16"/>
          <p:cNvSpPr/>
          <p:nvPr/>
        </p:nvSpPr>
        <p:spPr>
          <a:xfrm>
            <a:off x="2651760" y="3666744"/>
            <a:ext cx="2110773" cy="256032"/>
          </a:xfrm>
          <a:prstGeom prst="rect">
            <a:avLst/>
          </a:prstGeom>
          <a:solidFill>
            <a:srgbClr val="2EC4B6"/>
          </a:solidFill>
          <a:ln/>
        </p:spPr>
      </p:sp>
      <p:sp>
        <p:nvSpPr>
          <p:cNvPr id="19" name="Text 17"/>
          <p:cNvSpPr/>
          <p:nvPr/>
        </p:nvSpPr>
        <p:spPr>
          <a:xfrm>
            <a:off x="5212080" y="361188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₦460,376</a:t>
            </a:r>
            <a:endParaRPr lang="en-US" sz="1100" dirty="0"/>
          </a:p>
        </p:txBody>
      </p:sp>
      <p:sp>
        <p:nvSpPr>
          <p:cNvPr id="20" name="Text 18"/>
          <p:cNvSpPr/>
          <p:nvPr/>
        </p:nvSpPr>
        <p:spPr>
          <a:xfrm>
            <a:off x="548640" y="4114800"/>
            <a:ext cx="5029200" cy="274320"/>
          </a:xfrm>
          <a:prstGeom prst="rect">
            <a:avLst/>
          </a:prstGeom>
          <a:noFill/>
          <a:ln/>
        </p:spPr>
        <p:txBody>
          <a:bodyPr wrap="square" rtlCol="0" anchor="ctr"/>
          <a:lstStyle/>
          <a:p>
            <a:pPr marL="0" indent="0">
              <a:buNone/>
            </a:pPr>
            <a:r>
              <a:rPr lang="en-US" sz="1250" b="1" dirty="0">
                <a:solidFill>
                  <a:srgbClr val="E15554"/>
                </a:solidFill>
                <a:latin typeface="Calibri" pitchFamily="34" charset="0"/>
                <a:ea typeface="Calibri" pitchFamily="34" charset="-122"/>
                <a:cs typeface="Calibri" pitchFamily="34" charset="-120"/>
              </a:rPr>
              <a:t>Bottom 5 states by profit (₦)</a:t>
            </a:r>
            <a:endParaRPr lang="en-US" sz="1250" dirty="0"/>
          </a:p>
        </p:txBody>
      </p:sp>
      <p:sp>
        <p:nvSpPr>
          <p:cNvPr id="21" name="Text 19"/>
          <p:cNvSpPr/>
          <p:nvPr/>
        </p:nvSpPr>
        <p:spPr>
          <a:xfrm>
            <a:off x="548640" y="443484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Delta</a:t>
            </a:r>
            <a:endParaRPr lang="en-US" sz="1200" dirty="0"/>
          </a:p>
        </p:txBody>
      </p:sp>
      <p:sp>
        <p:nvSpPr>
          <p:cNvPr id="22" name="Shape 20"/>
          <p:cNvSpPr/>
          <p:nvPr/>
        </p:nvSpPr>
        <p:spPr>
          <a:xfrm>
            <a:off x="2651760" y="4489704"/>
            <a:ext cx="1248804" cy="256032"/>
          </a:xfrm>
          <a:prstGeom prst="rect">
            <a:avLst/>
          </a:prstGeom>
          <a:solidFill>
            <a:srgbClr val="E15554"/>
          </a:solidFill>
          <a:ln/>
        </p:spPr>
      </p:sp>
      <p:sp>
        <p:nvSpPr>
          <p:cNvPr id="23" name="Text 21"/>
          <p:cNvSpPr/>
          <p:nvPr/>
        </p:nvSpPr>
        <p:spPr>
          <a:xfrm>
            <a:off x="5212080" y="443484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₦272,374</a:t>
            </a:r>
            <a:endParaRPr lang="en-US" sz="1100" dirty="0"/>
          </a:p>
        </p:txBody>
      </p:sp>
      <p:sp>
        <p:nvSpPr>
          <p:cNvPr id="24" name="Text 22"/>
          <p:cNvSpPr/>
          <p:nvPr/>
        </p:nvSpPr>
        <p:spPr>
          <a:xfrm>
            <a:off x="548640" y="489204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Enugu</a:t>
            </a:r>
            <a:endParaRPr lang="en-US" sz="1200" dirty="0"/>
          </a:p>
        </p:txBody>
      </p:sp>
      <p:sp>
        <p:nvSpPr>
          <p:cNvPr id="25" name="Shape 23"/>
          <p:cNvSpPr/>
          <p:nvPr/>
        </p:nvSpPr>
        <p:spPr>
          <a:xfrm>
            <a:off x="2651760" y="4946904"/>
            <a:ext cx="1154947" cy="256032"/>
          </a:xfrm>
          <a:prstGeom prst="rect">
            <a:avLst/>
          </a:prstGeom>
          <a:solidFill>
            <a:srgbClr val="E15554"/>
          </a:solidFill>
          <a:ln/>
        </p:spPr>
      </p:sp>
      <p:sp>
        <p:nvSpPr>
          <p:cNvPr id="26" name="Text 24"/>
          <p:cNvSpPr/>
          <p:nvPr/>
        </p:nvSpPr>
        <p:spPr>
          <a:xfrm>
            <a:off x="5212080" y="489204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₦251,903</a:t>
            </a:r>
            <a:endParaRPr lang="en-US" sz="1100" dirty="0"/>
          </a:p>
        </p:txBody>
      </p:sp>
      <p:sp>
        <p:nvSpPr>
          <p:cNvPr id="27" name="Text 25"/>
          <p:cNvSpPr/>
          <p:nvPr/>
        </p:nvSpPr>
        <p:spPr>
          <a:xfrm>
            <a:off x="548640" y="534924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Kebbi</a:t>
            </a:r>
            <a:endParaRPr lang="en-US" sz="1200" dirty="0"/>
          </a:p>
        </p:txBody>
      </p:sp>
      <p:sp>
        <p:nvSpPr>
          <p:cNvPr id="28" name="Shape 26"/>
          <p:cNvSpPr/>
          <p:nvPr/>
        </p:nvSpPr>
        <p:spPr>
          <a:xfrm>
            <a:off x="2651760" y="5404104"/>
            <a:ext cx="1108383" cy="256032"/>
          </a:xfrm>
          <a:prstGeom prst="rect">
            <a:avLst/>
          </a:prstGeom>
          <a:solidFill>
            <a:srgbClr val="E15554"/>
          </a:solidFill>
          <a:ln/>
        </p:spPr>
      </p:sp>
      <p:sp>
        <p:nvSpPr>
          <p:cNvPr id="29" name="Text 27"/>
          <p:cNvSpPr/>
          <p:nvPr/>
        </p:nvSpPr>
        <p:spPr>
          <a:xfrm>
            <a:off x="5212080" y="534924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₦241,747</a:t>
            </a:r>
            <a:endParaRPr lang="en-US" sz="1100" dirty="0"/>
          </a:p>
        </p:txBody>
      </p:sp>
      <p:sp>
        <p:nvSpPr>
          <p:cNvPr id="30" name="Text 28"/>
          <p:cNvSpPr/>
          <p:nvPr/>
        </p:nvSpPr>
        <p:spPr>
          <a:xfrm>
            <a:off x="548640" y="580644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Osun</a:t>
            </a:r>
            <a:endParaRPr lang="en-US" sz="1200" dirty="0"/>
          </a:p>
        </p:txBody>
      </p:sp>
      <p:sp>
        <p:nvSpPr>
          <p:cNvPr id="31" name="Shape 29"/>
          <p:cNvSpPr/>
          <p:nvPr/>
        </p:nvSpPr>
        <p:spPr>
          <a:xfrm>
            <a:off x="2651760" y="5861304"/>
            <a:ext cx="879996" cy="256032"/>
          </a:xfrm>
          <a:prstGeom prst="rect">
            <a:avLst/>
          </a:prstGeom>
          <a:solidFill>
            <a:srgbClr val="E15554"/>
          </a:solidFill>
          <a:ln/>
        </p:spPr>
      </p:sp>
      <p:sp>
        <p:nvSpPr>
          <p:cNvPr id="32" name="Text 30"/>
          <p:cNvSpPr/>
          <p:nvPr/>
        </p:nvSpPr>
        <p:spPr>
          <a:xfrm>
            <a:off x="5212080" y="580644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₦191,934</a:t>
            </a:r>
            <a:endParaRPr lang="en-US" sz="1100" dirty="0"/>
          </a:p>
        </p:txBody>
      </p:sp>
      <p:sp>
        <p:nvSpPr>
          <p:cNvPr id="33" name="Text 31"/>
          <p:cNvSpPr/>
          <p:nvPr/>
        </p:nvSpPr>
        <p:spPr>
          <a:xfrm>
            <a:off x="548640" y="6263640"/>
            <a:ext cx="2103120" cy="36576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Bauchi</a:t>
            </a:r>
            <a:endParaRPr lang="en-US" sz="1200" dirty="0"/>
          </a:p>
        </p:txBody>
      </p:sp>
      <p:sp>
        <p:nvSpPr>
          <p:cNvPr id="34" name="Shape 32"/>
          <p:cNvSpPr/>
          <p:nvPr/>
        </p:nvSpPr>
        <p:spPr>
          <a:xfrm>
            <a:off x="2651760" y="6318504"/>
            <a:ext cx="862431" cy="256032"/>
          </a:xfrm>
          <a:prstGeom prst="rect">
            <a:avLst/>
          </a:prstGeom>
          <a:solidFill>
            <a:srgbClr val="E15554"/>
          </a:solidFill>
          <a:ln/>
        </p:spPr>
      </p:sp>
      <p:sp>
        <p:nvSpPr>
          <p:cNvPr id="35" name="Text 33"/>
          <p:cNvSpPr/>
          <p:nvPr/>
        </p:nvSpPr>
        <p:spPr>
          <a:xfrm>
            <a:off x="5212080" y="6263640"/>
            <a:ext cx="1463040" cy="365760"/>
          </a:xfrm>
          <a:prstGeom prst="rect">
            <a:avLst/>
          </a:prstGeom>
          <a:noFill/>
          <a:ln/>
        </p:spPr>
        <p:txBody>
          <a:bodyPr wrap="square" rtlCol="0" anchor="ctr"/>
          <a:lstStyle/>
          <a:p>
            <a:pPr marL="0" indent="0">
              <a:buNone/>
            </a:pPr>
            <a:r>
              <a:rPr lang="en-US" sz="1100" dirty="0">
                <a:solidFill>
                  <a:srgbClr val="16213E"/>
                </a:solidFill>
                <a:latin typeface="Calibri" pitchFamily="34" charset="0"/>
                <a:ea typeface="Calibri" pitchFamily="34" charset="-122"/>
                <a:cs typeface="Calibri" pitchFamily="34" charset="-120"/>
              </a:rPr>
              <a:t>₦188,103</a:t>
            </a:r>
            <a:endParaRPr lang="en-US" sz="1100" dirty="0"/>
          </a:p>
        </p:txBody>
      </p:sp>
      <p:sp>
        <p:nvSpPr>
          <p:cNvPr id="36" name="Shape 34"/>
          <p:cNvSpPr/>
          <p:nvPr/>
        </p:nvSpPr>
        <p:spPr>
          <a:xfrm>
            <a:off x="7040880" y="1600200"/>
            <a:ext cx="4572000" cy="4572000"/>
          </a:xfrm>
          <a:prstGeom prst="rect">
            <a:avLst/>
          </a:prstGeom>
          <a:solidFill>
            <a:srgbClr val="16213E"/>
          </a:solidFill>
          <a:ln/>
        </p:spPr>
      </p:sp>
      <p:sp>
        <p:nvSpPr>
          <p:cNvPr id="37" name="Text 35"/>
          <p:cNvSpPr/>
          <p:nvPr/>
        </p:nvSpPr>
        <p:spPr>
          <a:xfrm>
            <a:off x="7315200" y="1874520"/>
            <a:ext cx="4023360" cy="320040"/>
          </a:xfrm>
          <a:prstGeom prst="rect">
            <a:avLst/>
          </a:prstGeom>
          <a:noFill/>
          <a:ln/>
        </p:spPr>
        <p:txBody>
          <a:bodyPr wrap="square" rtlCol="0" anchor="ctr"/>
          <a:lstStyle/>
          <a:p>
            <a:pPr marL="0" indent="0">
              <a:buNone/>
            </a:pPr>
            <a:r>
              <a:rPr lang="en-US" sz="1200" b="1" kern="0" spc="100" dirty="0">
                <a:solidFill>
                  <a:srgbClr val="FFB627"/>
                </a:solidFill>
                <a:latin typeface="Calibri" pitchFamily="34" charset="0"/>
                <a:ea typeface="Calibri" pitchFamily="34" charset="-122"/>
                <a:cs typeface="Calibri" pitchFamily="34" charset="-120"/>
              </a:rPr>
              <a:t>2013 PEAK MONTH</a:t>
            </a:r>
            <a:endParaRPr lang="en-US" sz="1200" dirty="0"/>
          </a:p>
        </p:txBody>
      </p:sp>
      <p:sp>
        <p:nvSpPr>
          <p:cNvPr id="38" name="Text 36"/>
          <p:cNvSpPr/>
          <p:nvPr/>
        </p:nvSpPr>
        <p:spPr>
          <a:xfrm>
            <a:off x="7315200" y="2240280"/>
            <a:ext cx="4023360" cy="594360"/>
          </a:xfrm>
          <a:prstGeom prst="rect">
            <a:avLst/>
          </a:prstGeom>
          <a:noFill/>
          <a:ln/>
        </p:spPr>
        <p:txBody>
          <a:bodyPr wrap="square"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June 2013</a:t>
            </a:r>
            <a:endParaRPr lang="en-US" sz="3000" dirty="0"/>
          </a:p>
        </p:txBody>
      </p:sp>
      <p:sp>
        <p:nvSpPr>
          <p:cNvPr id="39" name="Text 37"/>
          <p:cNvSpPr/>
          <p:nvPr/>
        </p:nvSpPr>
        <p:spPr>
          <a:xfrm>
            <a:off x="7315200" y="2834640"/>
            <a:ext cx="4023360" cy="457200"/>
          </a:xfrm>
          <a:prstGeom prst="rect">
            <a:avLst/>
          </a:prstGeom>
          <a:noFill/>
          <a:ln/>
        </p:spPr>
        <p:txBody>
          <a:bodyPr wrap="square" rtlCol="0" anchor="ctr"/>
          <a:lstStyle/>
          <a:p>
            <a:pPr marL="0" indent="0">
              <a:buNone/>
            </a:pPr>
            <a:r>
              <a:rPr lang="en-US" sz="1800" b="1" dirty="0">
                <a:solidFill>
                  <a:srgbClr val="2EC4B6"/>
                </a:solidFill>
                <a:latin typeface="Calibri" pitchFamily="34" charset="0"/>
                <a:ea typeface="Calibri" pitchFamily="34" charset="-122"/>
                <a:cs typeface="Calibri" pitchFamily="34" charset="-120"/>
              </a:rPr>
              <a:t>₦617,217 profit</a:t>
            </a:r>
            <a:endParaRPr lang="en-US" sz="1800" dirty="0"/>
          </a:p>
        </p:txBody>
      </p:sp>
      <p:sp>
        <p:nvSpPr>
          <p:cNvPr id="40" name="Text 38"/>
          <p:cNvSpPr/>
          <p:nvPr/>
        </p:nvSpPr>
        <p:spPr>
          <a:xfrm>
            <a:off x="7315200" y="3383280"/>
            <a:ext cx="4023360" cy="822960"/>
          </a:xfrm>
          <a:prstGeom prst="rect">
            <a:avLst/>
          </a:prstGeom>
          <a:noFill/>
          <a:ln/>
        </p:spPr>
        <p:txBody>
          <a:bodyPr wrap="square" rtlCol="0" anchor="ctr"/>
          <a:lstStyle/>
          <a:p>
            <a:pPr marL="0" indent="0">
              <a:lnSpc>
                <a:spcPts val="1700"/>
              </a:lnSpc>
              <a:buNone/>
            </a:pPr>
            <a:r>
              <a:rPr lang="en-US" sz="1200" dirty="0">
                <a:solidFill>
                  <a:srgbClr val="D6DAF0"/>
                </a:solidFill>
                <a:latin typeface="Calibri" pitchFamily="34" charset="0"/>
                <a:ea typeface="Calibri" pitchFamily="34" charset="-122"/>
                <a:cs typeface="Calibri" pitchFamily="34" charset="-120"/>
              </a:rPr>
              <a:t>the single highest-profit month across all of 2013, roughly double the second-best month (December, ₦570,346).</a:t>
            </a:r>
            <a:endParaRPr lang="en-US" sz="1200" dirty="0"/>
          </a:p>
        </p:txBody>
      </p:sp>
      <p:sp>
        <p:nvSpPr>
          <p:cNvPr id="41" name="Shape 39"/>
          <p:cNvSpPr/>
          <p:nvPr/>
        </p:nvSpPr>
        <p:spPr>
          <a:xfrm>
            <a:off x="7315200" y="4343400"/>
            <a:ext cx="4023360" cy="0"/>
          </a:xfrm>
          <a:prstGeom prst="line">
            <a:avLst/>
          </a:prstGeom>
          <a:noFill/>
          <a:ln w="12700">
            <a:solidFill>
              <a:srgbClr val="3A4A78"/>
            </a:solidFill>
            <a:prstDash val="solid"/>
          </a:ln>
        </p:spPr>
      </p:sp>
      <p:sp>
        <p:nvSpPr>
          <p:cNvPr id="42" name="Text 40"/>
          <p:cNvSpPr/>
          <p:nvPr/>
        </p:nvSpPr>
        <p:spPr>
          <a:xfrm>
            <a:off x="7315200" y="4572000"/>
            <a:ext cx="4023360" cy="1371600"/>
          </a:xfrm>
          <a:prstGeom prst="rect">
            <a:avLst/>
          </a:prstGeom>
          <a:noFill/>
          <a:ln/>
        </p:spPr>
        <p:txBody>
          <a:bodyPr wrap="square" rtlCol="0" anchor="ctr"/>
          <a:lstStyle/>
          <a:p>
            <a:pPr marL="0" indent="0">
              <a:lnSpc>
                <a:spcPts val="1700"/>
              </a:lnSpc>
              <a:buNone/>
            </a:pPr>
            <a:r>
              <a:rPr lang="en-US" sz="1200" dirty="0">
                <a:solidFill>
                  <a:srgbClr val="D6DAF0"/>
                </a:solidFill>
                <a:latin typeface="Calibri" pitchFamily="34" charset="0"/>
                <a:ea typeface="Calibri" pitchFamily="34" charset="-122"/>
                <a:cs typeface="Calibri" pitchFamily="34" charset="-120"/>
              </a:rPr>
              <a:t>Yobe State delivers the highest state-level profit at ₦538K; Bauchi trails at ₦188K , a near 3x spread across the state ranking.</a:t>
            </a:r>
            <a:endParaRPr lang="en-US" sz="1200" dirty="0"/>
          </a:p>
        </p:txBody>
      </p:sp>
      <p:sp>
        <p:nvSpPr>
          <p:cNvPr id="43" name="Text 41"/>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KEY FINDING 6 · CUSTOMER SEGMENT &amp; GROWTH TREND</a:t>
            </a:r>
            <a:endParaRPr lang="en-US" sz="1300" dirty="0"/>
          </a:p>
        </p:txBody>
      </p:sp>
      <p:sp>
        <p:nvSpPr>
          <p:cNvPr id="3" name="Text 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6213E"/>
                </a:solidFill>
                <a:latin typeface="Calibri" pitchFamily="34" charset="0"/>
                <a:ea typeface="Calibri" pitchFamily="34" charset="-122"/>
                <a:cs typeface="Calibri" pitchFamily="34" charset="-120"/>
              </a:rPr>
              <a:t>Consumer segment leads; revenue trend is consistently upward</a:t>
            </a:r>
            <a:endParaRPr lang="en-US" sz="3000" dirty="0"/>
          </a:p>
        </p:txBody>
      </p:sp>
      <p:sp>
        <p:nvSpPr>
          <p:cNvPr id="4" name="Text 2"/>
          <p:cNvSpPr/>
          <p:nvPr/>
        </p:nvSpPr>
        <p:spPr>
          <a:xfrm>
            <a:off x="548640" y="1463040"/>
            <a:ext cx="5029200" cy="320040"/>
          </a:xfrm>
          <a:prstGeom prst="rect">
            <a:avLst/>
          </a:prstGeom>
          <a:noFill/>
          <a:ln/>
        </p:spPr>
        <p:txBody>
          <a:bodyPr wrap="square"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Profit share by segment</a:t>
            </a:r>
            <a:endParaRPr lang="en-US" sz="1300" dirty="0"/>
          </a:p>
        </p:txBody>
      </p:sp>
      <p:graphicFrame>
        <p:nvGraphicFramePr>
          <p:cNvPr id="5" name="Chart 0"/>
          <p:cNvGraphicFramePr/>
          <p:nvPr/>
        </p:nvGraphicFramePr>
        <p:xfrm>
          <a:off x="457200" y="1783080"/>
          <a:ext cx="521208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6309360" y="1463040"/>
            <a:ext cx="5303520" cy="320040"/>
          </a:xfrm>
          <a:prstGeom prst="rect">
            <a:avLst/>
          </a:prstGeom>
          <a:noFill/>
          <a:ln/>
        </p:spPr>
        <p:txBody>
          <a:bodyPr wrap="square" rtlCol="0" anchor="ctr"/>
          <a:lstStyle/>
          <a:p>
            <a:pPr marL="0" indent="0">
              <a:buNone/>
            </a:pPr>
            <a:r>
              <a:rPr lang="en-US" sz="1300" b="1" dirty="0">
                <a:solidFill>
                  <a:srgbClr val="16213E"/>
                </a:solidFill>
                <a:latin typeface="Calibri" pitchFamily="34" charset="0"/>
                <a:ea typeface="Calibri" pitchFamily="34" charset="-122"/>
                <a:cs typeface="Calibri" pitchFamily="34" charset="-120"/>
              </a:rPr>
              <a:t>Revenue trend, 2011–2014 (₦M)</a:t>
            </a:r>
            <a:endParaRPr lang="en-US" sz="1300" dirty="0"/>
          </a:p>
        </p:txBody>
      </p:sp>
      <p:graphicFrame>
        <p:nvGraphicFramePr>
          <p:cNvPr id="7" name="Chart 1"/>
          <p:cNvGraphicFramePr/>
          <p:nvPr/>
        </p:nvGraphicFramePr>
        <p:xfrm>
          <a:off x="6126480" y="1783080"/>
          <a:ext cx="55778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8" name="Shape 4"/>
          <p:cNvSpPr/>
          <p:nvPr/>
        </p:nvSpPr>
        <p:spPr>
          <a:xfrm>
            <a:off x="457200" y="6080760"/>
            <a:ext cx="11247120" cy="502920"/>
          </a:xfrm>
          <a:prstGeom prst="rect">
            <a:avLst/>
          </a:prstGeom>
          <a:solidFill>
            <a:srgbClr val="F6F7FA"/>
          </a:solidFill>
          <a:ln/>
        </p:spPr>
      </p:sp>
      <p:sp>
        <p:nvSpPr>
          <p:cNvPr id="9" name="Text 5"/>
          <p:cNvSpPr/>
          <p:nvPr/>
        </p:nvSpPr>
        <p:spPr>
          <a:xfrm>
            <a:off x="685800" y="6080760"/>
            <a:ext cx="10789920" cy="502920"/>
          </a:xfrm>
          <a:prstGeom prst="rect">
            <a:avLst/>
          </a:prstGeom>
          <a:noFill/>
          <a:ln/>
        </p:spPr>
        <p:txBody>
          <a:bodyPr wrap="square" rtlCol="0" anchor="ctr"/>
          <a:lstStyle/>
          <a:p>
            <a:pPr marL="0" indent="0">
              <a:buNone/>
            </a:pPr>
            <a:r>
              <a:rPr lang="en-US" sz="1200" dirty="0">
                <a:solidFill>
                  <a:srgbClr val="16213E"/>
                </a:solidFill>
                <a:latin typeface="Calibri" pitchFamily="34" charset="0"/>
                <a:ea typeface="Calibri" pitchFamily="34" charset="-122"/>
                <a:cs typeface="Calibri" pitchFamily="34" charset="-120"/>
              </a:rPr>
              <a:t>Consumer contributes 49% of profit (₦6.81M), ahead of Corporate (32%) and Home Office (19%). Revenue has grown every year, up 103% from 2011 to 2014.</a:t>
            </a:r>
            <a:endParaRPr lang="en-US" sz="1200" dirty="0"/>
          </a:p>
        </p:txBody>
      </p:sp>
      <p:sp>
        <p:nvSpPr>
          <p:cNvPr id="10" name="Text 6"/>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213E"/>
        </a:solidFill>
        <a:effectLst/>
      </p:bgPr>
    </p:bg>
    <p:spTree>
      <p:nvGrpSpPr>
        <p:cNvPr id="1" name=""/>
        <p:cNvGrpSpPr/>
        <p:nvPr/>
      </p:nvGrpSpPr>
      <p:grpSpPr>
        <a:xfrm>
          <a:off x="0" y="0"/>
          <a:ext cx="0" cy="0"/>
          <a:chOff x="0" y="0"/>
          <a:chExt cx="0" cy="0"/>
        </a:xfrm>
      </p:grpSpPr>
      <p:sp>
        <p:nvSpPr>
          <p:cNvPr id="2" name="Text 0"/>
          <p:cNvSpPr/>
          <p:nvPr/>
        </p:nvSpPr>
        <p:spPr>
          <a:xfrm>
            <a:off x="548640" y="457200"/>
            <a:ext cx="7315200" cy="365760"/>
          </a:xfrm>
          <a:prstGeom prst="rect">
            <a:avLst/>
          </a:prstGeom>
          <a:noFill/>
          <a:ln/>
        </p:spPr>
        <p:txBody>
          <a:bodyPr wrap="square"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RECOMMENDATIONS</a:t>
            </a:r>
            <a:endParaRPr lang="en-US" sz="1300" dirty="0"/>
          </a:p>
        </p:txBody>
      </p:sp>
      <p:sp>
        <p:nvSpPr>
          <p:cNvPr id="3" name="Text 1"/>
          <p:cNvSpPr/>
          <p:nvPr/>
        </p:nvSpPr>
        <p:spPr>
          <a:xfrm>
            <a:off x="548640" y="822960"/>
            <a:ext cx="10515600" cy="64008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Five actions to lift profit and close performance gaps</a:t>
            </a:r>
            <a:endParaRPr lang="en-US" sz="2600" dirty="0"/>
          </a:p>
        </p:txBody>
      </p:sp>
      <p:sp>
        <p:nvSpPr>
          <p:cNvPr id="4" name="Shape 2"/>
          <p:cNvSpPr/>
          <p:nvPr/>
        </p:nvSpPr>
        <p:spPr>
          <a:xfrm>
            <a:off x="548640" y="1691640"/>
            <a:ext cx="11109960" cy="822960"/>
          </a:xfrm>
          <a:prstGeom prst="rect">
            <a:avLst/>
          </a:prstGeom>
          <a:solidFill>
            <a:srgbClr val="1F2E52"/>
          </a:solidFill>
          <a:ln/>
        </p:spPr>
      </p:sp>
      <p:sp>
        <p:nvSpPr>
          <p:cNvPr id="5" name="Text 3"/>
          <p:cNvSpPr/>
          <p:nvPr/>
        </p:nvSpPr>
        <p:spPr>
          <a:xfrm>
            <a:off x="777240" y="1691640"/>
            <a:ext cx="822960" cy="822960"/>
          </a:xfrm>
          <a:prstGeom prst="rect">
            <a:avLst/>
          </a:prstGeom>
          <a:noFill/>
          <a:ln/>
        </p:spPr>
        <p:txBody>
          <a:bodyPr wrap="square" rtlCol="0" anchor="ctr"/>
          <a:lstStyle/>
          <a:p>
            <a:pPr marL="0" indent="0">
              <a:buNone/>
            </a:pPr>
            <a:r>
              <a:rPr lang="en-US" sz="2400" b="1" dirty="0">
                <a:solidFill>
                  <a:srgbClr val="FF6B35"/>
                </a:solidFill>
                <a:latin typeface="Calibri" pitchFamily="34" charset="0"/>
                <a:ea typeface="Calibri" pitchFamily="34" charset="-122"/>
                <a:cs typeface="Calibri" pitchFamily="34" charset="-120"/>
              </a:rPr>
              <a:t>01</a:t>
            </a:r>
            <a:endParaRPr lang="en-US" sz="2400" dirty="0"/>
          </a:p>
        </p:txBody>
      </p:sp>
      <p:sp>
        <p:nvSpPr>
          <p:cNvPr id="6" name="Text 4"/>
          <p:cNvSpPr/>
          <p:nvPr/>
        </p:nvSpPr>
        <p:spPr>
          <a:xfrm>
            <a:off x="1737360" y="1783080"/>
            <a:ext cx="969264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Rebalance the product portfolio</a:t>
            </a:r>
            <a:endParaRPr lang="en-US" sz="1350" dirty="0"/>
          </a:p>
        </p:txBody>
      </p:sp>
      <p:sp>
        <p:nvSpPr>
          <p:cNvPr id="7" name="Text 5"/>
          <p:cNvSpPr/>
          <p:nvPr/>
        </p:nvSpPr>
        <p:spPr>
          <a:xfrm>
            <a:off x="1737360" y="2075688"/>
            <a:ext cx="9692640" cy="411480"/>
          </a:xfrm>
          <a:prstGeom prst="rect">
            <a:avLst/>
          </a:prstGeom>
          <a:noFill/>
          <a:ln/>
        </p:spPr>
        <p:txBody>
          <a:bodyPr wrap="square" rtlCol="0" anchor="ctr"/>
          <a:lstStyle/>
          <a:p>
            <a:pPr marL="0" indent="0">
              <a:buNone/>
            </a:pPr>
            <a:r>
              <a:rPr lang="en-US" sz="1080" dirty="0">
                <a:solidFill>
                  <a:srgbClr val="C7CEE8"/>
                </a:solidFill>
                <a:latin typeface="Calibri" pitchFamily="34" charset="0"/>
                <a:ea typeface="Calibri" pitchFamily="34" charset="-122"/>
                <a:cs typeface="Calibri" pitchFamily="34" charset="-120"/>
              </a:rPr>
              <a:t>Review pricing and cost-of-sales on the bottom five products, particularly the Brother printer and iPhone 12 Pro Max, or consider replacing them with higher-margin alternatives.</a:t>
            </a:r>
            <a:endParaRPr lang="en-US" sz="1080" dirty="0"/>
          </a:p>
        </p:txBody>
      </p:sp>
      <p:sp>
        <p:nvSpPr>
          <p:cNvPr id="8" name="Shape 6"/>
          <p:cNvSpPr/>
          <p:nvPr/>
        </p:nvSpPr>
        <p:spPr>
          <a:xfrm>
            <a:off x="548640" y="2606040"/>
            <a:ext cx="11109960" cy="822960"/>
          </a:xfrm>
          <a:prstGeom prst="rect">
            <a:avLst/>
          </a:prstGeom>
          <a:solidFill>
            <a:srgbClr val="1F2E52"/>
          </a:solidFill>
          <a:ln/>
        </p:spPr>
      </p:sp>
      <p:sp>
        <p:nvSpPr>
          <p:cNvPr id="9" name="Text 7"/>
          <p:cNvSpPr/>
          <p:nvPr/>
        </p:nvSpPr>
        <p:spPr>
          <a:xfrm>
            <a:off x="777240" y="2606040"/>
            <a:ext cx="822960" cy="822960"/>
          </a:xfrm>
          <a:prstGeom prst="rect">
            <a:avLst/>
          </a:prstGeom>
          <a:noFill/>
          <a:ln/>
        </p:spPr>
        <p:txBody>
          <a:bodyPr wrap="square" rtlCol="0" anchor="ctr"/>
          <a:lstStyle/>
          <a:p>
            <a:pPr marL="0" indent="0">
              <a:buNone/>
            </a:pPr>
            <a:r>
              <a:rPr lang="en-US" sz="2400" b="1" dirty="0">
                <a:solidFill>
                  <a:srgbClr val="FF6B35"/>
                </a:solidFill>
                <a:latin typeface="Calibri" pitchFamily="34" charset="0"/>
                <a:ea typeface="Calibri" pitchFamily="34" charset="-122"/>
                <a:cs typeface="Calibri" pitchFamily="34" charset="-120"/>
              </a:rPr>
              <a:t>02</a:t>
            </a:r>
            <a:endParaRPr lang="en-US" sz="2400" dirty="0"/>
          </a:p>
        </p:txBody>
      </p:sp>
      <p:sp>
        <p:nvSpPr>
          <p:cNvPr id="10" name="Text 8"/>
          <p:cNvSpPr/>
          <p:nvPr/>
        </p:nvSpPr>
        <p:spPr>
          <a:xfrm>
            <a:off x="1737360" y="2697480"/>
            <a:ext cx="969264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Share North West's playbook</a:t>
            </a:r>
            <a:endParaRPr lang="en-US" sz="1350" dirty="0"/>
          </a:p>
        </p:txBody>
      </p:sp>
      <p:sp>
        <p:nvSpPr>
          <p:cNvPr id="11" name="Text 9"/>
          <p:cNvSpPr/>
          <p:nvPr/>
        </p:nvSpPr>
        <p:spPr>
          <a:xfrm>
            <a:off x="1737360" y="2990088"/>
            <a:ext cx="9692640" cy="411480"/>
          </a:xfrm>
          <a:prstGeom prst="rect">
            <a:avLst/>
          </a:prstGeom>
          <a:noFill/>
          <a:ln/>
        </p:spPr>
        <p:txBody>
          <a:bodyPr wrap="square" rtlCol="0" anchor="ctr"/>
          <a:lstStyle/>
          <a:p>
            <a:pPr marL="0" indent="0">
              <a:buNone/>
            </a:pPr>
            <a:r>
              <a:rPr lang="en-US" sz="1080" dirty="0">
                <a:solidFill>
                  <a:srgbClr val="C7CEE8"/>
                </a:solidFill>
                <a:latin typeface="Calibri" pitchFamily="34" charset="0"/>
                <a:ea typeface="Calibri" pitchFamily="34" charset="-122"/>
                <a:cs typeface="Calibri" pitchFamily="34" charset="-120"/>
              </a:rPr>
              <a:t>Have Zainab Abubakar's North West team document what is driving their ₦2.72M lead, and use it to coach the South East region, currently ₦1.01M behind.</a:t>
            </a:r>
            <a:endParaRPr lang="en-US" sz="1080" dirty="0"/>
          </a:p>
        </p:txBody>
      </p:sp>
      <p:sp>
        <p:nvSpPr>
          <p:cNvPr id="12" name="Shape 10"/>
          <p:cNvSpPr/>
          <p:nvPr/>
        </p:nvSpPr>
        <p:spPr>
          <a:xfrm>
            <a:off x="548640" y="3520440"/>
            <a:ext cx="11109960" cy="822960"/>
          </a:xfrm>
          <a:prstGeom prst="rect">
            <a:avLst/>
          </a:prstGeom>
          <a:solidFill>
            <a:srgbClr val="1F2E52"/>
          </a:solidFill>
          <a:ln/>
        </p:spPr>
      </p:sp>
      <p:sp>
        <p:nvSpPr>
          <p:cNvPr id="13" name="Text 11"/>
          <p:cNvSpPr/>
          <p:nvPr/>
        </p:nvSpPr>
        <p:spPr>
          <a:xfrm>
            <a:off x="777240" y="3520440"/>
            <a:ext cx="822960" cy="822960"/>
          </a:xfrm>
          <a:prstGeom prst="rect">
            <a:avLst/>
          </a:prstGeom>
          <a:noFill/>
          <a:ln/>
        </p:spPr>
        <p:txBody>
          <a:bodyPr wrap="square" rtlCol="0" anchor="ctr"/>
          <a:lstStyle/>
          <a:p>
            <a:pPr marL="0" indent="0">
              <a:buNone/>
            </a:pPr>
            <a:r>
              <a:rPr lang="en-US" sz="2400" b="1" dirty="0">
                <a:solidFill>
                  <a:srgbClr val="FF6B35"/>
                </a:solidFill>
                <a:latin typeface="Calibri" pitchFamily="34" charset="0"/>
                <a:ea typeface="Calibri" pitchFamily="34" charset="-122"/>
                <a:cs typeface="Calibri" pitchFamily="34" charset="-120"/>
              </a:rPr>
              <a:t>03</a:t>
            </a:r>
            <a:endParaRPr lang="en-US" sz="2400" dirty="0"/>
          </a:p>
        </p:txBody>
      </p:sp>
      <p:sp>
        <p:nvSpPr>
          <p:cNvPr id="14" name="Text 12"/>
          <p:cNvSpPr/>
          <p:nvPr/>
        </p:nvSpPr>
        <p:spPr>
          <a:xfrm>
            <a:off x="1737360" y="3611880"/>
            <a:ext cx="969264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Double down on Phones and Chairs</a:t>
            </a:r>
            <a:endParaRPr lang="en-US" sz="1350" dirty="0"/>
          </a:p>
        </p:txBody>
      </p:sp>
      <p:sp>
        <p:nvSpPr>
          <p:cNvPr id="15" name="Text 13"/>
          <p:cNvSpPr/>
          <p:nvPr/>
        </p:nvSpPr>
        <p:spPr>
          <a:xfrm>
            <a:off x="1737360" y="3904488"/>
            <a:ext cx="9692640" cy="411480"/>
          </a:xfrm>
          <a:prstGeom prst="rect">
            <a:avLst/>
          </a:prstGeom>
          <a:noFill/>
          <a:ln/>
        </p:spPr>
        <p:txBody>
          <a:bodyPr wrap="square" rtlCol="0" anchor="ctr"/>
          <a:lstStyle/>
          <a:p>
            <a:pPr marL="0" indent="0">
              <a:buNone/>
            </a:pPr>
            <a:r>
              <a:rPr lang="en-US" sz="1080" dirty="0">
                <a:solidFill>
                  <a:srgbClr val="C7CEE8"/>
                </a:solidFill>
                <a:latin typeface="Calibri" pitchFamily="34" charset="0"/>
                <a:ea typeface="Calibri" pitchFamily="34" charset="-122"/>
                <a:cs typeface="Calibri" pitchFamily="34" charset="-120"/>
              </a:rPr>
              <a:t>These two sub-categories generate 63% of profit. Prioritise inventory, marketing spend and supplier negotiation here over lower-yield lines like Copiers.</a:t>
            </a:r>
            <a:endParaRPr lang="en-US" sz="1080" dirty="0"/>
          </a:p>
        </p:txBody>
      </p:sp>
      <p:sp>
        <p:nvSpPr>
          <p:cNvPr id="16" name="Shape 14"/>
          <p:cNvSpPr/>
          <p:nvPr/>
        </p:nvSpPr>
        <p:spPr>
          <a:xfrm>
            <a:off x="548640" y="4434840"/>
            <a:ext cx="11109960" cy="822960"/>
          </a:xfrm>
          <a:prstGeom prst="rect">
            <a:avLst/>
          </a:prstGeom>
          <a:solidFill>
            <a:srgbClr val="1F2E52"/>
          </a:solidFill>
          <a:ln/>
        </p:spPr>
      </p:sp>
      <p:sp>
        <p:nvSpPr>
          <p:cNvPr id="17" name="Text 15"/>
          <p:cNvSpPr/>
          <p:nvPr/>
        </p:nvSpPr>
        <p:spPr>
          <a:xfrm>
            <a:off x="777240" y="4434840"/>
            <a:ext cx="822960" cy="822960"/>
          </a:xfrm>
          <a:prstGeom prst="rect">
            <a:avLst/>
          </a:prstGeom>
          <a:noFill/>
          <a:ln/>
        </p:spPr>
        <p:txBody>
          <a:bodyPr wrap="square" rtlCol="0" anchor="ctr"/>
          <a:lstStyle/>
          <a:p>
            <a:pPr marL="0" indent="0">
              <a:buNone/>
            </a:pPr>
            <a:r>
              <a:rPr lang="en-US" sz="2400" b="1" dirty="0">
                <a:solidFill>
                  <a:srgbClr val="FF6B35"/>
                </a:solidFill>
                <a:latin typeface="Calibri" pitchFamily="34" charset="0"/>
                <a:ea typeface="Calibri" pitchFamily="34" charset="-122"/>
                <a:cs typeface="Calibri" pitchFamily="34" charset="-120"/>
              </a:rPr>
              <a:t>04</a:t>
            </a:r>
            <a:endParaRPr lang="en-US" sz="2400" dirty="0"/>
          </a:p>
        </p:txBody>
      </p:sp>
      <p:sp>
        <p:nvSpPr>
          <p:cNvPr id="18" name="Text 16"/>
          <p:cNvSpPr/>
          <p:nvPr/>
        </p:nvSpPr>
        <p:spPr>
          <a:xfrm>
            <a:off x="1737360" y="4526280"/>
            <a:ext cx="969264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Investigate the Low-priority order gap</a:t>
            </a:r>
            <a:endParaRPr lang="en-US" sz="1350" dirty="0"/>
          </a:p>
        </p:txBody>
      </p:sp>
      <p:sp>
        <p:nvSpPr>
          <p:cNvPr id="19" name="Text 17"/>
          <p:cNvSpPr/>
          <p:nvPr/>
        </p:nvSpPr>
        <p:spPr>
          <a:xfrm>
            <a:off x="1737360" y="4818888"/>
            <a:ext cx="9692640" cy="411480"/>
          </a:xfrm>
          <a:prstGeom prst="rect">
            <a:avLst/>
          </a:prstGeom>
          <a:noFill/>
          <a:ln/>
        </p:spPr>
        <p:txBody>
          <a:bodyPr wrap="square" rtlCol="0" anchor="ctr"/>
          <a:lstStyle/>
          <a:p>
            <a:pPr marL="0" indent="0">
              <a:buNone/>
            </a:pPr>
            <a:r>
              <a:rPr lang="en-US" sz="1080" dirty="0">
                <a:solidFill>
                  <a:srgbClr val="C7CEE8"/>
                </a:solidFill>
                <a:latin typeface="Calibri" pitchFamily="34" charset="0"/>
                <a:ea typeface="Calibri" pitchFamily="34" charset="-122"/>
                <a:cs typeface="Calibri" pitchFamily="34" charset="-120"/>
              </a:rPr>
              <a:t>Low-priority orders contribute only ₦0.59M against ₦5.66M for Medium. Review whether this reflects genuinely lower-value orders or an under-served fulfilment process.</a:t>
            </a:r>
            <a:endParaRPr lang="en-US" sz="1080" dirty="0"/>
          </a:p>
        </p:txBody>
      </p:sp>
      <p:sp>
        <p:nvSpPr>
          <p:cNvPr id="20" name="Shape 18"/>
          <p:cNvSpPr/>
          <p:nvPr/>
        </p:nvSpPr>
        <p:spPr>
          <a:xfrm>
            <a:off x="548640" y="5349240"/>
            <a:ext cx="11109960" cy="822960"/>
          </a:xfrm>
          <a:prstGeom prst="rect">
            <a:avLst/>
          </a:prstGeom>
          <a:solidFill>
            <a:srgbClr val="1F2E52"/>
          </a:solidFill>
          <a:ln/>
        </p:spPr>
      </p:sp>
      <p:sp>
        <p:nvSpPr>
          <p:cNvPr id="21" name="Text 19"/>
          <p:cNvSpPr/>
          <p:nvPr/>
        </p:nvSpPr>
        <p:spPr>
          <a:xfrm>
            <a:off x="777240" y="5349240"/>
            <a:ext cx="822960" cy="822960"/>
          </a:xfrm>
          <a:prstGeom prst="rect">
            <a:avLst/>
          </a:prstGeom>
          <a:noFill/>
          <a:ln/>
        </p:spPr>
        <p:txBody>
          <a:bodyPr wrap="square" rtlCol="0" anchor="ctr"/>
          <a:lstStyle/>
          <a:p>
            <a:pPr marL="0" indent="0">
              <a:buNone/>
            </a:pPr>
            <a:r>
              <a:rPr lang="en-US" sz="2400" b="1" dirty="0">
                <a:solidFill>
                  <a:srgbClr val="FF6B35"/>
                </a:solidFill>
                <a:latin typeface="Calibri" pitchFamily="34" charset="0"/>
                <a:ea typeface="Calibri" pitchFamily="34" charset="-122"/>
                <a:cs typeface="Calibri" pitchFamily="34" charset="-120"/>
              </a:rPr>
              <a:t>05</a:t>
            </a:r>
            <a:endParaRPr lang="en-US" sz="2400" dirty="0"/>
          </a:p>
        </p:txBody>
      </p:sp>
      <p:sp>
        <p:nvSpPr>
          <p:cNvPr id="22" name="Text 20"/>
          <p:cNvSpPr/>
          <p:nvPr/>
        </p:nvSpPr>
        <p:spPr>
          <a:xfrm>
            <a:off x="1737360" y="5440680"/>
            <a:ext cx="9692640" cy="320040"/>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Replicate the June 2013 conditions</a:t>
            </a:r>
            <a:endParaRPr lang="en-US" sz="1350" dirty="0"/>
          </a:p>
        </p:txBody>
      </p:sp>
      <p:sp>
        <p:nvSpPr>
          <p:cNvPr id="23" name="Text 21"/>
          <p:cNvSpPr/>
          <p:nvPr/>
        </p:nvSpPr>
        <p:spPr>
          <a:xfrm>
            <a:off x="1737360" y="5733288"/>
            <a:ext cx="9692640" cy="411480"/>
          </a:xfrm>
          <a:prstGeom prst="rect">
            <a:avLst/>
          </a:prstGeom>
          <a:noFill/>
          <a:ln/>
        </p:spPr>
        <p:txBody>
          <a:bodyPr wrap="square" rtlCol="0" anchor="ctr"/>
          <a:lstStyle/>
          <a:p>
            <a:pPr marL="0" indent="0">
              <a:buNone/>
            </a:pPr>
            <a:r>
              <a:rPr lang="en-US" sz="1080" dirty="0">
                <a:solidFill>
                  <a:srgbClr val="C7CEE8"/>
                </a:solidFill>
                <a:latin typeface="Calibri" pitchFamily="34" charset="0"/>
                <a:ea typeface="Calibri" pitchFamily="34" charset="-122"/>
                <a:cs typeface="Calibri" pitchFamily="34" charset="-120"/>
              </a:rPr>
              <a:t>Analyse what drove June 2013's ₦617K peak (promotions, seasonality, stock availability) and test repeating those conditions in future high-demand months.</a:t>
            </a:r>
            <a:endParaRPr lang="en-US" sz="1080" dirty="0"/>
          </a:p>
        </p:txBody>
      </p:sp>
      <p:sp>
        <p:nvSpPr>
          <p:cNvPr id="24" name="Text 22"/>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961120" y="-1188720"/>
            <a:ext cx="4572000" cy="4572000"/>
          </a:xfrm>
          <a:prstGeom prst="ellipse">
            <a:avLst/>
          </a:prstGeom>
          <a:solidFill>
            <a:srgbClr val="F6F7FA"/>
          </a:solidFill>
          <a:ln/>
        </p:spPr>
      </p:sp>
      <p:sp>
        <p:nvSpPr>
          <p:cNvPr id="3" name="Text 1"/>
          <p:cNvSpPr/>
          <p:nvPr/>
        </p:nvSpPr>
        <p:spPr>
          <a:xfrm>
            <a:off x="548640" y="384048"/>
            <a:ext cx="7315200" cy="320040"/>
          </a:xfrm>
          <a:prstGeom prst="rect">
            <a:avLst/>
          </a:prstGeom>
          <a:noFill/>
          <a:ln/>
        </p:spPr>
        <p:txBody>
          <a:bodyPr wrap="square" rtlCol="0" anchor="ctr"/>
          <a:lstStyle/>
          <a:p>
            <a:pPr marL="0" indent="0">
              <a:buNone/>
            </a:pPr>
            <a:r>
              <a:rPr lang="en-US" sz="1300" b="1" kern="0" spc="200" dirty="0">
                <a:solidFill>
                  <a:srgbClr val="FF6B35"/>
                </a:solidFill>
                <a:latin typeface="Calibri" pitchFamily="34" charset="0"/>
                <a:ea typeface="Calibri" pitchFamily="34" charset="-122"/>
                <a:cs typeface="Calibri" pitchFamily="34" charset="-120"/>
              </a:rPr>
              <a:t>CONCLUSION</a:t>
            </a:r>
            <a:endParaRPr lang="en-US" sz="1300" dirty="0"/>
          </a:p>
        </p:txBody>
      </p:sp>
      <p:sp>
        <p:nvSpPr>
          <p:cNvPr id="4" name="Text 2"/>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16213E"/>
                </a:solidFill>
                <a:latin typeface="Calibri" pitchFamily="34" charset="0"/>
                <a:ea typeface="Calibri" pitchFamily="34" charset="-122"/>
                <a:cs typeface="Calibri" pitchFamily="34" charset="-120"/>
              </a:rPr>
              <a:t>A growing business with room to sharpen its focus</a:t>
            </a:r>
            <a:endParaRPr lang="en-US" sz="3000" dirty="0"/>
          </a:p>
        </p:txBody>
      </p:sp>
      <p:sp>
        <p:nvSpPr>
          <p:cNvPr id="5" name="Text 3"/>
          <p:cNvSpPr/>
          <p:nvPr/>
        </p:nvSpPr>
        <p:spPr>
          <a:xfrm>
            <a:off x="548640" y="1737360"/>
            <a:ext cx="6766560" cy="3291840"/>
          </a:xfrm>
          <a:prstGeom prst="rect">
            <a:avLst/>
          </a:prstGeom>
          <a:noFill/>
          <a:ln/>
        </p:spPr>
        <p:txBody>
          <a:bodyPr wrap="square" rtlCol="0" anchor="ctr"/>
          <a:lstStyle/>
          <a:p>
            <a:pPr marL="0" indent="0">
              <a:lnSpc>
                <a:spcPts val="2600"/>
              </a:lnSpc>
              <a:buNone/>
            </a:pPr>
            <a:r>
              <a:rPr lang="en-US" sz="1500" dirty="0">
                <a:solidFill>
                  <a:srgbClr val="374151"/>
                </a:solidFill>
                <a:latin typeface="Calibri" pitchFamily="34" charset="0"/>
                <a:ea typeface="Calibri" pitchFamily="34" charset="-122"/>
                <a:cs typeface="Calibri" pitchFamily="34" charset="-120"/>
              </a:rPr>
              <a:t>Optimus-Elite Superstore's four-year trajectory is unambiguously positive: revenue and profit have grown every year, led by a loyal Consumer base and a small set of high-performing products and regions. The opportunity now is concentration, not expansion by lifting underperforming products, closing the North West-to-South East regional gap, and replicating the conditions behind 2013's best month, the business can convert its existing momentum into a materially higher and more evenly distributed profit base going into future reporting periods.</a:t>
            </a:r>
            <a:endParaRPr lang="en-US" sz="1500" dirty="0"/>
          </a:p>
        </p:txBody>
      </p:sp>
      <p:sp>
        <p:nvSpPr>
          <p:cNvPr id="6" name="Shape 4"/>
          <p:cNvSpPr/>
          <p:nvPr/>
        </p:nvSpPr>
        <p:spPr>
          <a:xfrm>
            <a:off x="548640" y="5212080"/>
            <a:ext cx="6766560" cy="54864"/>
          </a:xfrm>
          <a:prstGeom prst="rect">
            <a:avLst/>
          </a:prstGeom>
          <a:solidFill>
            <a:srgbClr val="FF6B35"/>
          </a:solidFill>
          <a:ln/>
        </p:spPr>
      </p:sp>
      <p:sp>
        <p:nvSpPr>
          <p:cNvPr id="7" name="Text 5"/>
          <p:cNvSpPr/>
          <p:nvPr/>
        </p:nvSpPr>
        <p:spPr>
          <a:xfrm>
            <a:off x="548640" y="5440680"/>
            <a:ext cx="4572000" cy="548640"/>
          </a:xfrm>
          <a:prstGeom prst="rect">
            <a:avLst/>
          </a:prstGeom>
          <a:noFill/>
          <a:ln/>
        </p:spPr>
        <p:txBody>
          <a:bodyPr wrap="square" rtlCol="0" anchor="ctr"/>
          <a:lstStyle/>
          <a:p>
            <a:pPr marL="0" indent="0">
              <a:buNone/>
            </a:pPr>
            <a:r>
              <a:rPr lang="en-US" sz="2200" b="1" dirty="0">
                <a:solidFill>
                  <a:srgbClr val="16213E"/>
                </a:solidFill>
                <a:latin typeface="Calibri" pitchFamily="34" charset="0"/>
                <a:ea typeface="Calibri" pitchFamily="34" charset="-122"/>
                <a:cs typeface="Calibri" pitchFamily="34" charset="-120"/>
              </a:rPr>
              <a:t>Thank you</a:t>
            </a:r>
            <a:endParaRPr lang="en-US" sz="2200" dirty="0"/>
          </a:p>
        </p:txBody>
      </p:sp>
      <p:sp>
        <p:nvSpPr>
          <p:cNvPr id="8" name="Shape 6"/>
          <p:cNvSpPr/>
          <p:nvPr/>
        </p:nvSpPr>
        <p:spPr>
          <a:xfrm>
            <a:off x="7680960" y="1828800"/>
            <a:ext cx="1234440" cy="1188720"/>
          </a:xfrm>
          <a:prstGeom prst="rect">
            <a:avLst/>
          </a:prstGeom>
          <a:solidFill>
            <a:srgbClr val="F6F7FA"/>
          </a:solidFill>
          <a:ln/>
        </p:spPr>
      </p:sp>
      <p:sp>
        <p:nvSpPr>
          <p:cNvPr id="9" name="Text 7"/>
          <p:cNvSpPr/>
          <p:nvPr/>
        </p:nvSpPr>
        <p:spPr>
          <a:xfrm>
            <a:off x="7726680" y="1938528"/>
            <a:ext cx="1143000" cy="457200"/>
          </a:xfrm>
          <a:prstGeom prst="rect">
            <a:avLst/>
          </a:prstGeom>
          <a:noFill/>
          <a:ln/>
        </p:spPr>
        <p:txBody>
          <a:bodyPr wrap="square" rtlCol="0" anchor="ctr"/>
          <a:lstStyle/>
          <a:p>
            <a:pPr marL="0" indent="0" algn="ctr">
              <a:buNone/>
            </a:pPr>
            <a:r>
              <a:rPr lang="en-US" sz="1600" b="1" dirty="0">
                <a:solidFill>
                  <a:srgbClr val="FF6B35"/>
                </a:solidFill>
                <a:latin typeface="Calibri" pitchFamily="34" charset="0"/>
                <a:ea typeface="Calibri" pitchFamily="34" charset="-122"/>
                <a:cs typeface="Calibri" pitchFamily="34" charset="-120"/>
              </a:rPr>
              <a:t>+103%</a:t>
            </a:r>
            <a:endParaRPr lang="en-US" sz="1600" dirty="0"/>
          </a:p>
        </p:txBody>
      </p:sp>
      <p:sp>
        <p:nvSpPr>
          <p:cNvPr id="10" name="Text 8"/>
          <p:cNvSpPr/>
          <p:nvPr/>
        </p:nvSpPr>
        <p:spPr>
          <a:xfrm>
            <a:off x="7726680" y="2423160"/>
            <a:ext cx="1143000" cy="548640"/>
          </a:xfrm>
          <a:prstGeom prst="rect">
            <a:avLst/>
          </a:prstGeom>
          <a:noFill/>
          <a:ln/>
        </p:spPr>
        <p:txBody>
          <a:bodyPr wrap="square"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revenue growth</a:t>
            </a:r>
            <a:endParaRPr lang="en-US" sz="850" dirty="0"/>
          </a:p>
          <a:p>
            <a:pPr marL="0" indent="0" algn="ctr">
              <a:buNone/>
            </a:pPr>
            <a:r>
              <a:rPr lang="en-US" sz="850" dirty="0">
                <a:solidFill>
                  <a:srgbClr val="6B7280"/>
                </a:solidFill>
                <a:latin typeface="Calibri" pitchFamily="34" charset="0"/>
                <a:ea typeface="Calibri" pitchFamily="34" charset="-122"/>
                <a:cs typeface="Calibri" pitchFamily="34" charset="-120"/>
              </a:rPr>
              <a:t>2011→2014</a:t>
            </a:r>
            <a:endParaRPr lang="en-US" sz="850" dirty="0"/>
          </a:p>
        </p:txBody>
      </p:sp>
      <p:sp>
        <p:nvSpPr>
          <p:cNvPr id="11" name="Shape 9"/>
          <p:cNvSpPr/>
          <p:nvPr/>
        </p:nvSpPr>
        <p:spPr>
          <a:xfrm>
            <a:off x="9098280" y="1828800"/>
            <a:ext cx="1234440" cy="1188720"/>
          </a:xfrm>
          <a:prstGeom prst="rect">
            <a:avLst/>
          </a:prstGeom>
          <a:solidFill>
            <a:srgbClr val="F6F7FA"/>
          </a:solidFill>
          <a:ln/>
        </p:spPr>
      </p:sp>
      <p:sp>
        <p:nvSpPr>
          <p:cNvPr id="12" name="Text 10"/>
          <p:cNvSpPr/>
          <p:nvPr/>
        </p:nvSpPr>
        <p:spPr>
          <a:xfrm>
            <a:off x="9144000" y="1938528"/>
            <a:ext cx="1143000" cy="457200"/>
          </a:xfrm>
          <a:prstGeom prst="rect">
            <a:avLst/>
          </a:prstGeom>
          <a:noFill/>
          <a:ln/>
        </p:spPr>
        <p:txBody>
          <a:bodyPr wrap="square" rtlCol="0" anchor="ctr"/>
          <a:lstStyle/>
          <a:p>
            <a:pPr marL="0" indent="0" algn="ctr">
              <a:buNone/>
            </a:pPr>
            <a:r>
              <a:rPr lang="en-US" sz="1600" b="1" dirty="0">
                <a:solidFill>
                  <a:srgbClr val="FF6B35"/>
                </a:solidFill>
                <a:latin typeface="Calibri" pitchFamily="34" charset="0"/>
                <a:ea typeface="Calibri" pitchFamily="34" charset="-122"/>
                <a:cs typeface="Calibri" pitchFamily="34" charset="-120"/>
              </a:rPr>
              <a:t>₦257K</a:t>
            </a:r>
            <a:endParaRPr lang="en-US" sz="1600" dirty="0"/>
          </a:p>
        </p:txBody>
      </p:sp>
      <p:sp>
        <p:nvSpPr>
          <p:cNvPr id="13" name="Text 11"/>
          <p:cNvSpPr/>
          <p:nvPr/>
        </p:nvSpPr>
        <p:spPr>
          <a:xfrm>
            <a:off x="9144000" y="2423160"/>
            <a:ext cx="1143000" cy="548640"/>
          </a:xfrm>
          <a:prstGeom prst="rect">
            <a:avLst/>
          </a:prstGeom>
          <a:noFill/>
          <a:ln/>
        </p:spPr>
        <p:txBody>
          <a:bodyPr wrap="square"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avg. profit</a:t>
            </a:r>
            <a:endParaRPr lang="en-US" sz="850" dirty="0"/>
          </a:p>
          <a:p>
            <a:pPr marL="0" indent="0" algn="ctr">
              <a:buNone/>
            </a:pPr>
            <a:r>
              <a:rPr lang="en-US" sz="850" dirty="0">
                <a:solidFill>
                  <a:srgbClr val="6B7280"/>
                </a:solidFill>
                <a:latin typeface="Calibri" pitchFamily="34" charset="0"/>
                <a:ea typeface="Calibri" pitchFamily="34" charset="-122"/>
                <a:cs typeface="Calibri" pitchFamily="34" charset="-120"/>
              </a:rPr>
              <a:t>per product</a:t>
            </a:r>
            <a:endParaRPr lang="en-US" sz="850" dirty="0"/>
          </a:p>
        </p:txBody>
      </p:sp>
      <p:sp>
        <p:nvSpPr>
          <p:cNvPr id="14" name="Shape 12"/>
          <p:cNvSpPr/>
          <p:nvPr/>
        </p:nvSpPr>
        <p:spPr>
          <a:xfrm>
            <a:off x="10515600" y="1828800"/>
            <a:ext cx="1234440" cy="1188720"/>
          </a:xfrm>
          <a:prstGeom prst="rect">
            <a:avLst/>
          </a:prstGeom>
          <a:solidFill>
            <a:srgbClr val="F6F7FA"/>
          </a:solidFill>
          <a:ln/>
        </p:spPr>
      </p:sp>
      <p:sp>
        <p:nvSpPr>
          <p:cNvPr id="15" name="Text 13"/>
          <p:cNvSpPr/>
          <p:nvPr/>
        </p:nvSpPr>
        <p:spPr>
          <a:xfrm>
            <a:off x="10561320" y="1938528"/>
            <a:ext cx="1143000" cy="457200"/>
          </a:xfrm>
          <a:prstGeom prst="rect">
            <a:avLst/>
          </a:prstGeom>
          <a:noFill/>
          <a:ln/>
        </p:spPr>
        <p:txBody>
          <a:bodyPr wrap="square" rtlCol="0" anchor="ctr"/>
          <a:lstStyle/>
          <a:p>
            <a:pPr marL="0" indent="0" algn="ctr">
              <a:buNone/>
            </a:pPr>
            <a:r>
              <a:rPr lang="en-US" sz="1600" b="1" dirty="0">
                <a:solidFill>
                  <a:srgbClr val="FF6B35"/>
                </a:solidFill>
                <a:latin typeface="Calibri" pitchFamily="34" charset="0"/>
                <a:ea typeface="Calibri" pitchFamily="34" charset="-122"/>
                <a:cs typeface="Calibri" pitchFamily="34" charset="-120"/>
              </a:rPr>
              <a:t>6</a:t>
            </a:r>
            <a:endParaRPr lang="en-US" sz="1600" dirty="0"/>
          </a:p>
        </p:txBody>
      </p:sp>
      <p:sp>
        <p:nvSpPr>
          <p:cNvPr id="16" name="Text 14"/>
          <p:cNvSpPr/>
          <p:nvPr/>
        </p:nvSpPr>
        <p:spPr>
          <a:xfrm>
            <a:off x="10561320" y="2423160"/>
            <a:ext cx="1143000" cy="548640"/>
          </a:xfrm>
          <a:prstGeom prst="rect">
            <a:avLst/>
          </a:prstGeom>
          <a:noFill/>
          <a:ln/>
        </p:spPr>
        <p:txBody>
          <a:bodyPr wrap="square" rtlCol="0" anchor="ctr"/>
          <a:lstStyle/>
          <a:p>
            <a:pPr marL="0" indent="0" algn="ctr">
              <a:buNone/>
            </a:pPr>
            <a:r>
              <a:rPr lang="en-US" sz="850" dirty="0">
                <a:solidFill>
                  <a:srgbClr val="6B7280"/>
                </a:solidFill>
                <a:latin typeface="Calibri" pitchFamily="34" charset="0"/>
                <a:ea typeface="Calibri" pitchFamily="34" charset="-122"/>
                <a:cs typeface="Calibri" pitchFamily="34" charset="-120"/>
              </a:rPr>
              <a:t>regions</a:t>
            </a:r>
            <a:endParaRPr lang="en-US" sz="850" dirty="0"/>
          </a:p>
          <a:p>
            <a:pPr marL="0" indent="0" algn="ctr">
              <a:buNone/>
            </a:pPr>
            <a:r>
              <a:rPr lang="en-US" sz="850" dirty="0">
                <a:solidFill>
                  <a:srgbClr val="6B7280"/>
                </a:solidFill>
                <a:latin typeface="Calibri" pitchFamily="34" charset="0"/>
                <a:ea typeface="Calibri" pitchFamily="34" charset="-122"/>
                <a:cs typeface="Calibri" pitchFamily="34" charset="-120"/>
              </a:rPr>
              <a:t>compared</a:t>
            </a:r>
            <a:endParaRPr lang="en-US" sz="850" dirty="0"/>
          </a:p>
        </p:txBody>
      </p:sp>
      <p:sp>
        <p:nvSpPr>
          <p:cNvPr id="17" name="Text 15"/>
          <p:cNvSpPr/>
          <p:nvPr/>
        </p:nvSpPr>
        <p:spPr>
          <a:xfrm>
            <a:off x="11475720" y="6510528"/>
            <a:ext cx="548640" cy="274320"/>
          </a:xfrm>
          <a:prstGeom prst="rect">
            <a:avLst/>
          </a:prstGeom>
          <a:noFill/>
          <a:ln/>
        </p:spPr>
        <p:txBody>
          <a:bodyPr wrap="square" rtlCol="0" anchor="ctr"/>
          <a:lstStyle/>
          <a:p>
            <a:pPr marL="0" indent="0" algn="r">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1272</TotalTime>
  <Words>982</Words>
  <Application>Microsoft Office PowerPoint</Application>
  <PresentationFormat>Widescreen</PresentationFormat>
  <Paragraphs>148</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Jeffrey Fagbemi</cp:lastModifiedBy>
  <cp:revision>5</cp:revision>
  <dcterms:created xsi:type="dcterms:W3CDTF">2026-08-13T23:04:37Z</dcterms:created>
  <dcterms:modified xsi:type="dcterms:W3CDTF">2026-10-17T07:19:45Z</dcterms:modified>
</cp:coreProperties>
</file>